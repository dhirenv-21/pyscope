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Bricolage Grotesque" panose="020B0604020202020204" charset="0"/>
      <p:regular r:id="rId20"/>
    </p:embeddedFont>
    <p:embeddedFont>
      <p:font typeface="Bricolage Grotesque Bold" panose="020B0604020202020204" charset="0"/>
      <p:regular r:id="rId21"/>
    </p:embeddedFont>
    <p:embeddedFont>
      <p:font typeface="Canva Sans" panose="020B0604020202020204" charset="0"/>
      <p:regular r:id="rId22"/>
    </p:embeddedFont>
    <p:embeddedFont>
      <p:font typeface="Canva Sans Bold" panose="020B0604020202020204" charset="0"/>
      <p:regular r:id="rId23"/>
    </p:embeddedFont>
    <p:embeddedFont>
      <p:font typeface="IBM Plex Serif" panose="02060503050406000203" pitchFamily="18"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14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90314" y="-31710"/>
            <a:ext cx="7397686" cy="1887776"/>
          </a:xfrm>
          <a:custGeom>
            <a:avLst/>
            <a:gdLst/>
            <a:ahLst/>
            <a:cxnLst/>
            <a:rect l="l" t="t" r="r" b="b"/>
            <a:pathLst>
              <a:path w="7397686" h="1887776">
                <a:moveTo>
                  <a:pt x="0" y="0"/>
                </a:moveTo>
                <a:lnTo>
                  <a:pt x="7397686" y="0"/>
                </a:lnTo>
                <a:lnTo>
                  <a:pt x="7397686" y="1887776"/>
                </a:lnTo>
                <a:lnTo>
                  <a:pt x="0" y="1887776"/>
                </a:lnTo>
                <a:lnTo>
                  <a:pt x="0" y="0"/>
                </a:lnTo>
                <a:close/>
              </a:path>
            </a:pathLst>
          </a:custGeom>
          <a:blipFill>
            <a:blip r:embed="rId2"/>
            <a:stretch>
              <a:fillRect t="-943" b="-943"/>
            </a:stretch>
          </a:blipFill>
        </p:spPr>
      </p:sp>
      <p:grpSp>
        <p:nvGrpSpPr>
          <p:cNvPr id="3" name="Group 3"/>
          <p:cNvGrpSpPr/>
          <p:nvPr/>
        </p:nvGrpSpPr>
        <p:grpSpPr>
          <a:xfrm>
            <a:off x="-6185" y="9607550"/>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288388" y="-81240"/>
            <a:ext cx="1103344" cy="4832310"/>
            <a:chOff x="0" y="0"/>
            <a:chExt cx="290593" cy="1272707"/>
          </a:xfrm>
        </p:grpSpPr>
        <p:sp>
          <p:nvSpPr>
            <p:cNvPr id="7" name="Freeform 7"/>
            <p:cNvSpPr/>
            <p:nvPr/>
          </p:nvSpPr>
          <p:spPr>
            <a:xfrm>
              <a:off x="0" y="0"/>
              <a:ext cx="290593" cy="1272707"/>
            </a:xfrm>
            <a:custGeom>
              <a:avLst/>
              <a:gdLst/>
              <a:ahLst/>
              <a:cxnLst/>
              <a:rect l="l" t="t" r="r" b="b"/>
              <a:pathLst>
                <a:path w="290593" h="1272707">
                  <a:moveTo>
                    <a:pt x="145296" y="0"/>
                  </a:moveTo>
                  <a:lnTo>
                    <a:pt x="145296" y="0"/>
                  </a:lnTo>
                  <a:cubicBezTo>
                    <a:pt x="225541" y="0"/>
                    <a:pt x="290593" y="65051"/>
                    <a:pt x="290593" y="145296"/>
                  </a:cubicBezTo>
                  <a:lnTo>
                    <a:pt x="290593" y="1127411"/>
                  </a:lnTo>
                  <a:cubicBezTo>
                    <a:pt x="290593" y="1207656"/>
                    <a:pt x="225541" y="1272707"/>
                    <a:pt x="145296" y="1272707"/>
                  </a:cubicBezTo>
                  <a:lnTo>
                    <a:pt x="145296" y="1272707"/>
                  </a:lnTo>
                  <a:cubicBezTo>
                    <a:pt x="65051" y="1272707"/>
                    <a:pt x="0" y="1207656"/>
                    <a:pt x="0" y="1127411"/>
                  </a:cubicBezTo>
                  <a:lnTo>
                    <a:pt x="0" y="145296"/>
                  </a:lnTo>
                  <a:cubicBezTo>
                    <a:pt x="0" y="65051"/>
                    <a:pt x="65051" y="0"/>
                    <a:pt x="145296" y="0"/>
                  </a:cubicBezTo>
                  <a:close/>
                </a:path>
              </a:pathLst>
            </a:custGeom>
            <a:solidFill>
              <a:srgbClr val="004E7A"/>
            </a:solidFill>
          </p:spPr>
        </p:sp>
        <p:sp>
          <p:nvSpPr>
            <p:cNvPr id="8" name="TextBox 8"/>
            <p:cNvSpPr txBox="1"/>
            <p:nvPr/>
          </p:nvSpPr>
          <p:spPr>
            <a:xfrm>
              <a:off x="0" y="-47625"/>
              <a:ext cx="290593" cy="1320332"/>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814957" y="2291411"/>
            <a:ext cx="17240977" cy="1678305"/>
          </a:xfrm>
          <a:prstGeom prst="rect">
            <a:avLst/>
          </a:prstGeom>
        </p:spPr>
        <p:txBody>
          <a:bodyPr lIns="0" tIns="0" rIns="0" bIns="0" rtlCol="0" anchor="t">
            <a:spAutoFit/>
          </a:bodyPr>
          <a:lstStyle/>
          <a:p>
            <a:pPr algn="ctr">
              <a:lnSpc>
                <a:spcPts val="6720"/>
              </a:lnSpc>
            </a:pPr>
            <a:r>
              <a:rPr lang="en-US" sz="4800" b="1">
                <a:solidFill>
                  <a:srgbClr val="36211B"/>
                </a:solidFill>
                <a:latin typeface="Bricolage Grotesque Bold"/>
                <a:ea typeface="Bricolage Grotesque Bold"/>
                <a:cs typeface="Bricolage Grotesque Bold"/>
                <a:sym typeface="Bricolage Grotesque Bold"/>
              </a:rPr>
              <a:t>25AIC114</a:t>
            </a:r>
          </a:p>
          <a:p>
            <a:pPr algn="ctr">
              <a:lnSpc>
                <a:spcPts val="6720"/>
              </a:lnSpc>
            </a:pPr>
            <a:r>
              <a:rPr lang="en-US" sz="4800" b="1">
                <a:solidFill>
                  <a:srgbClr val="36211B"/>
                </a:solidFill>
                <a:latin typeface="Bricolage Grotesque Bold"/>
                <a:ea typeface="Bricolage Grotesque Bold"/>
                <a:cs typeface="Bricolage Grotesque Bold"/>
                <a:sym typeface="Bricolage Grotesque Bold"/>
              </a:rPr>
              <a:t>Elements of Computing – 2 (Assembly Programming)</a:t>
            </a:r>
          </a:p>
        </p:txBody>
      </p:sp>
      <p:sp>
        <p:nvSpPr>
          <p:cNvPr id="10" name="TextBox 10"/>
          <p:cNvSpPr txBox="1"/>
          <p:nvPr/>
        </p:nvSpPr>
        <p:spPr>
          <a:xfrm>
            <a:off x="3188775" y="6330950"/>
            <a:ext cx="10444934" cy="2980690"/>
          </a:xfrm>
          <a:prstGeom prst="rect">
            <a:avLst/>
          </a:prstGeom>
        </p:spPr>
        <p:txBody>
          <a:bodyPr lIns="0" tIns="0" rIns="0" bIns="0" rtlCol="0" anchor="t">
            <a:spAutoFit/>
          </a:bodyPr>
          <a:lstStyle/>
          <a:p>
            <a:pPr algn="just">
              <a:lnSpc>
                <a:spcPts val="4759"/>
              </a:lnSpc>
            </a:pPr>
            <a:r>
              <a:rPr lang="en-US" sz="3399">
                <a:solidFill>
                  <a:srgbClr val="000000"/>
                </a:solidFill>
                <a:latin typeface="Bricolage Grotesque"/>
                <a:ea typeface="Bricolage Grotesque"/>
                <a:cs typeface="Bricolage Grotesque"/>
                <a:sym typeface="Bricolage Grotesque"/>
              </a:rPr>
              <a:t>Dhiren Vasudeva(CB.AI.U4CPS25014)  </a:t>
            </a:r>
          </a:p>
          <a:p>
            <a:pPr algn="just">
              <a:lnSpc>
                <a:spcPts val="4759"/>
              </a:lnSpc>
            </a:pPr>
            <a:r>
              <a:rPr lang="en-US" sz="3399">
                <a:solidFill>
                  <a:srgbClr val="000000"/>
                </a:solidFill>
                <a:latin typeface="Bricolage Grotesque"/>
                <a:ea typeface="Bricolage Grotesque"/>
                <a:cs typeface="Bricolage Grotesque"/>
                <a:sym typeface="Bricolage Grotesque"/>
              </a:rPr>
              <a:t>Pardhav Reddy(CB.AI.U4CPS25059)</a:t>
            </a:r>
          </a:p>
          <a:p>
            <a:pPr algn="just">
              <a:lnSpc>
                <a:spcPts val="4759"/>
              </a:lnSpc>
            </a:pPr>
            <a:r>
              <a:rPr lang="en-US" sz="3399">
                <a:solidFill>
                  <a:srgbClr val="000000"/>
                </a:solidFill>
                <a:latin typeface="Bricolage Grotesque"/>
                <a:ea typeface="Bricolage Grotesque"/>
                <a:cs typeface="Bricolage Grotesque"/>
                <a:sym typeface="Bricolage Grotesque"/>
              </a:rPr>
              <a:t>Poovya.S(CB.AI.U4CPS25061)</a:t>
            </a:r>
          </a:p>
          <a:p>
            <a:pPr algn="just">
              <a:lnSpc>
                <a:spcPts val="4759"/>
              </a:lnSpc>
            </a:pPr>
            <a:r>
              <a:rPr lang="en-US" sz="3399">
                <a:solidFill>
                  <a:srgbClr val="000000"/>
                </a:solidFill>
                <a:latin typeface="Bricolage Grotesque"/>
                <a:ea typeface="Bricolage Grotesque"/>
                <a:cs typeface="Bricolage Grotesque"/>
                <a:sym typeface="Bricolage Grotesque"/>
              </a:rPr>
              <a:t>Ch.Venkata Abhiram(CB.AI.U4CPS25012)</a:t>
            </a:r>
          </a:p>
          <a:p>
            <a:pPr algn="just">
              <a:lnSpc>
                <a:spcPts val="4759"/>
              </a:lnSpc>
            </a:pPr>
            <a:r>
              <a:rPr lang="en-US" sz="3399">
                <a:solidFill>
                  <a:srgbClr val="000000"/>
                </a:solidFill>
                <a:latin typeface="Bricolage Grotesque"/>
                <a:ea typeface="Bricolage Grotesque"/>
                <a:cs typeface="Bricolage Grotesque"/>
                <a:sym typeface="Bricolage Grotesque"/>
              </a:rPr>
              <a:t>Edwin Santosh(CB.AI.U4CPS25045)</a:t>
            </a:r>
          </a:p>
        </p:txBody>
      </p:sp>
      <p:sp>
        <p:nvSpPr>
          <p:cNvPr id="11" name="TextBox 11"/>
          <p:cNvSpPr txBox="1"/>
          <p:nvPr/>
        </p:nvSpPr>
        <p:spPr>
          <a:xfrm>
            <a:off x="3088344" y="5512118"/>
            <a:ext cx="2738636" cy="804545"/>
          </a:xfrm>
          <a:prstGeom prst="rect">
            <a:avLst/>
          </a:prstGeom>
        </p:spPr>
        <p:txBody>
          <a:bodyPr lIns="0" tIns="0" rIns="0" bIns="0" rtlCol="0" anchor="t">
            <a:spAutoFit/>
          </a:bodyPr>
          <a:lstStyle/>
          <a:p>
            <a:pPr algn="ctr">
              <a:lnSpc>
                <a:spcPts val="6580"/>
              </a:lnSpc>
            </a:pPr>
            <a:r>
              <a:rPr lang="en-US" sz="4700" b="1">
                <a:solidFill>
                  <a:srgbClr val="000000"/>
                </a:solidFill>
                <a:latin typeface="Bricolage Grotesque Bold"/>
                <a:ea typeface="Bricolage Grotesque Bold"/>
                <a:cs typeface="Bricolage Grotesque Bold"/>
                <a:sym typeface="Bricolage Grotesque Bold"/>
              </a:rPr>
              <a:t>GROUP 9:</a:t>
            </a:r>
          </a:p>
        </p:txBody>
      </p:sp>
      <p:sp>
        <p:nvSpPr>
          <p:cNvPr id="12" name="TextBox 12"/>
          <p:cNvSpPr txBox="1"/>
          <p:nvPr/>
        </p:nvSpPr>
        <p:spPr>
          <a:xfrm>
            <a:off x="29690" y="4646295"/>
            <a:ext cx="18026244" cy="880110"/>
          </a:xfrm>
          <a:prstGeom prst="rect">
            <a:avLst/>
          </a:prstGeom>
        </p:spPr>
        <p:txBody>
          <a:bodyPr lIns="0" tIns="0" rIns="0" bIns="0" rtlCol="0" anchor="t">
            <a:spAutoFit/>
          </a:bodyPr>
          <a:lstStyle/>
          <a:p>
            <a:pPr algn="ctr">
              <a:lnSpc>
                <a:spcPts val="7139"/>
              </a:lnSpc>
            </a:pPr>
            <a:r>
              <a:rPr lang="en-US" sz="5100" b="1">
                <a:solidFill>
                  <a:srgbClr val="000000"/>
                </a:solidFill>
                <a:latin typeface="Bricolage Grotesque Bold"/>
                <a:ea typeface="Bricolage Grotesque Bold"/>
                <a:cs typeface="Bricolage Grotesque Bold"/>
                <a:sym typeface="Bricolage Grotesque Bold"/>
              </a:rPr>
              <a:t> “Program Execution &amp; Resource Monitoring System”</a:t>
            </a:r>
          </a:p>
        </p:txBody>
      </p:sp>
      <p:sp>
        <p:nvSpPr>
          <p:cNvPr id="13" name="TextBox 13"/>
          <p:cNvSpPr txBox="1"/>
          <p:nvPr/>
        </p:nvSpPr>
        <p:spPr>
          <a:xfrm>
            <a:off x="-4868339" y="3888721"/>
            <a:ext cx="18026244" cy="695959"/>
          </a:xfrm>
          <a:prstGeom prst="rect">
            <a:avLst/>
          </a:prstGeom>
        </p:spPr>
        <p:txBody>
          <a:bodyPr lIns="0" tIns="0" rIns="0" bIns="0" rtlCol="0" anchor="t">
            <a:spAutoFit/>
          </a:bodyPr>
          <a:lstStyle/>
          <a:p>
            <a:pPr algn="ctr">
              <a:lnSpc>
                <a:spcPts val="5740"/>
              </a:lnSpc>
            </a:pPr>
            <a:r>
              <a:rPr lang="en-US" sz="4100" b="1">
                <a:solidFill>
                  <a:srgbClr val="000000"/>
                </a:solidFill>
                <a:latin typeface="Bricolage Grotesque Bold"/>
                <a:ea typeface="Bricolage Grotesque Bold"/>
                <a:cs typeface="Bricolage Grotesque Bold"/>
                <a:sym typeface="Bricolage Grotesque Bold"/>
              </a:rPr>
              <a:t>PROJECT TITLE:</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19228" y="609812"/>
            <a:ext cx="15344895"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Contents of presentation</a:t>
            </a:r>
          </a:p>
        </p:txBody>
      </p:sp>
      <p:sp>
        <p:nvSpPr>
          <p:cNvPr id="10" name="Freeform 10"/>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1" name="TextBox 11"/>
          <p:cNvSpPr txBox="1"/>
          <p:nvPr/>
        </p:nvSpPr>
        <p:spPr>
          <a:xfrm>
            <a:off x="1028700" y="2522220"/>
            <a:ext cx="7907539" cy="7023432"/>
          </a:xfrm>
          <a:prstGeom prst="rect">
            <a:avLst/>
          </a:prstGeom>
        </p:spPr>
        <p:txBody>
          <a:bodyPr lIns="0" tIns="0" rIns="0" bIns="0" rtlCol="0" anchor="t">
            <a:spAutoFit/>
          </a:bodyPr>
          <a:lstStyle/>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Introduction and Motivation</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Problem Statement</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Project Objectives</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Tools &amp; Technologies Used</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Modular System Architecture</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Engine: Trace Hook Execution</a:t>
            </a:r>
          </a:p>
          <a:p>
            <a:pPr marL="860780" lvl="1" indent="-430390" algn="l">
              <a:lnSpc>
                <a:spcPts val="5581"/>
              </a:lnSpc>
              <a:buFont typeface="Arial"/>
              <a:buChar char="•"/>
            </a:pPr>
            <a:r>
              <a:rPr lang="en-US" sz="3986">
                <a:solidFill>
                  <a:srgbClr val="000000"/>
                </a:solidFill>
                <a:latin typeface="Canva Sans"/>
                <a:ea typeface="Canva Sans"/>
                <a:cs typeface="Canva Sans"/>
                <a:sym typeface="Canva Sans"/>
              </a:rPr>
              <a:t>Modular: Resource Telemetry</a:t>
            </a:r>
          </a:p>
        </p:txBody>
      </p:sp>
      <p:sp>
        <p:nvSpPr>
          <p:cNvPr id="12" name="Freeform 12"/>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3" name="TextBox 13"/>
          <p:cNvSpPr txBox="1"/>
          <p:nvPr/>
        </p:nvSpPr>
        <p:spPr>
          <a:xfrm>
            <a:off x="9526787" y="2522220"/>
            <a:ext cx="7732513" cy="4091939"/>
          </a:xfrm>
          <a:prstGeom prst="rect">
            <a:avLst/>
          </a:prstGeom>
        </p:spPr>
        <p:txBody>
          <a:bodyPr lIns="0" tIns="0" rIns="0" bIns="0" rtlCol="0" anchor="t">
            <a:spAutoFit/>
          </a:bodyPr>
          <a:lstStyle/>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Perforamnce Visualization</a:t>
            </a:r>
          </a:p>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Intelligent Insights</a:t>
            </a:r>
          </a:p>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Comparative Results</a:t>
            </a:r>
          </a:p>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Individual Contributions</a:t>
            </a:r>
          </a:p>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Limitations &amp; Future Work</a:t>
            </a:r>
          </a:p>
          <a:p>
            <a:pPr marL="842015" lvl="1" indent="-421007" algn="l">
              <a:lnSpc>
                <a:spcPts val="5460"/>
              </a:lnSpc>
              <a:buFont typeface="Arial"/>
              <a:buChar char="•"/>
            </a:pPr>
            <a:r>
              <a:rPr lang="en-US" sz="3900">
                <a:solidFill>
                  <a:srgbClr val="000000"/>
                </a:solidFill>
                <a:latin typeface="Canva Sans"/>
                <a:ea typeface="Canva Sans"/>
                <a:cs typeface="Canva Sans"/>
                <a:sym typeface="Canva Sans"/>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346480" y="670560"/>
            <a:ext cx="8230661" cy="3356610"/>
          </a:xfrm>
          <a:prstGeom prst="rect">
            <a:avLst/>
          </a:prstGeom>
        </p:spPr>
        <p:txBody>
          <a:bodyPr wrap="square" lIns="0" tIns="0" rIns="0" bIns="0" rtlCol="0" anchor="t">
            <a:spAutoFit/>
          </a:bodyPr>
          <a:lstStyle/>
          <a:p>
            <a:pPr algn="ctr">
              <a:lnSpc>
                <a:spcPts val="13439"/>
              </a:lnSpc>
              <a:spcBef>
                <a:spcPct val="0"/>
              </a:spcBef>
            </a:pPr>
            <a:r>
              <a:rPr lang="en-US" sz="9600" dirty="0">
                <a:solidFill>
                  <a:srgbClr val="000000"/>
                </a:solidFill>
                <a:latin typeface="Bricolage Grotesque"/>
                <a:ea typeface="Bricolage Grotesque"/>
                <a:cs typeface="Bricolage Grotesque"/>
                <a:sym typeface="Bricolage Grotesque"/>
              </a:rPr>
              <a:t>Introduction</a:t>
            </a:r>
          </a:p>
          <a:p>
            <a:pPr algn="ctr">
              <a:lnSpc>
                <a:spcPts val="13439"/>
              </a:lnSpc>
              <a:spcBef>
                <a:spcPct val="0"/>
              </a:spcBef>
            </a:pPr>
            <a:endParaRPr lang="en-US" sz="9600" dirty="0">
              <a:solidFill>
                <a:srgbClr val="000000"/>
              </a:solidFill>
              <a:latin typeface="Bricolage Grotesque"/>
              <a:ea typeface="Bricolage Grotesque"/>
              <a:cs typeface="Bricolage Grotesque"/>
              <a:sym typeface="Bricolage Grotesque"/>
            </a:endParaRPr>
          </a:p>
        </p:txBody>
      </p:sp>
      <p:sp>
        <p:nvSpPr>
          <p:cNvPr id="7" name="TextBox 7"/>
          <p:cNvSpPr txBox="1"/>
          <p:nvPr/>
        </p:nvSpPr>
        <p:spPr>
          <a:xfrm>
            <a:off x="1028700" y="2348865"/>
            <a:ext cx="16230600" cy="4315460"/>
          </a:xfrm>
          <a:prstGeom prst="rect">
            <a:avLst/>
          </a:prstGeom>
        </p:spPr>
        <p:txBody>
          <a:bodyPr lIns="0" tIns="0" rIns="0" bIns="0" rtlCol="0" anchor="t">
            <a:spAutoFit/>
          </a:bodyPr>
          <a:lstStyle/>
          <a:p>
            <a:pPr algn="l">
              <a:lnSpc>
                <a:spcPts val="5740"/>
              </a:lnSpc>
            </a:pPr>
            <a:r>
              <a:rPr lang="en-US" sz="4100" dirty="0">
                <a:solidFill>
                  <a:srgbClr val="000000"/>
                </a:solidFill>
                <a:latin typeface="Canva Sans"/>
                <a:ea typeface="Canva Sans"/>
                <a:cs typeface="Canva Sans"/>
                <a:sym typeface="Canva Sans"/>
              </a:rPr>
              <a:t>In computer science education, understanding how a program actually runs in backend is often a major hurdle for learners. While students are taught the theoretical concepts of instruction execution, control flow, and memory management, the actual runtime behavior of these programs remains invisible in standard development environments. </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0" y="651510"/>
            <a:ext cx="12231919"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Problem Statement</a:t>
            </a:r>
          </a:p>
        </p:txBody>
      </p:sp>
      <p:sp>
        <p:nvSpPr>
          <p:cNvPr id="7" name="TextBox 7"/>
          <p:cNvSpPr txBox="1"/>
          <p:nvPr/>
        </p:nvSpPr>
        <p:spPr>
          <a:xfrm>
            <a:off x="1028700" y="2348865"/>
            <a:ext cx="16230600" cy="5763260"/>
          </a:xfrm>
          <a:prstGeom prst="rect">
            <a:avLst/>
          </a:prstGeom>
        </p:spPr>
        <p:txBody>
          <a:bodyPr lIns="0" tIns="0" rIns="0" bIns="0" rtlCol="0" anchor="t">
            <a:spAutoFit/>
          </a:bodyPr>
          <a:lstStyle/>
          <a:p>
            <a:pPr algn="l">
              <a:lnSpc>
                <a:spcPts val="5740"/>
              </a:lnSpc>
            </a:pPr>
            <a:r>
              <a:rPr lang="en-US" sz="4100">
                <a:solidFill>
                  <a:srgbClr val="000000"/>
                </a:solidFill>
                <a:latin typeface="Canva Sans"/>
                <a:ea typeface="Canva Sans"/>
                <a:cs typeface="Canva Sans"/>
                <a:sym typeface="Canva Sans"/>
              </a:rPr>
              <a:t>Understanding the internal mechanics of program execution is a significant challenge for students and developers because runtime behaviors—such as instruction flow, memory allocation, and dynamic variable changes—remain invisible in traditional environments. While these concepts are taught theoretically, there is a lack of integrated tools that simultaneously trace code execution line-by-line while providing real-time visualization of system resource consumption, such as CPU and RAM usage</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89456F53-B95E-28ED-B8A7-DF156766A99B}"/>
              </a:ext>
            </a:extLst>
          </p:cNvPr>
          <p:cNvGraphicFramePr>
            <a:graphicFrameLocks noGrp="1"/>
          </p:cNvGraphicFramePr>
          <p:nvPr>
            <p:extLst>
              <p:ext uri="{D42A27DB-BD31-4B8C-83A1-F6EECF244321}">
                <p14:modId xmlns:p14="http://schemas.microsoft.com/office/powerpoint/2010/main" val="1545451725"/>
              </p:ext>
            </p:extLst>
          </p:nvPr>
        </p:nvGraphicFramePr>
        <p:xfrm>
          <a:off x="1066800" y="2065018"/>
          <a:ext cx="15849600" cy="7345679"/>
        </p:xfrm>
        <a:graphic>
          <a:graphicData uri="http://schemas.openxmlformats.org/drawingml/2006/table">
            <a:tbl>
              <a:tblPr/>
              <a:tblGrid>
                <a:gridCol w="3962400">
                  <a:extLst>
                    <a:ext uri="{9D8B030D-6E8A-4147-A177-3AD203B41FA5}">
                      <a16:colId xmlns:a16="http://schemas.microsoft.com/office/drawing/2014/main" val="4104275581"/>
                    </a:ext>
                  </a:extLst>
                </a:gridCol>
                <a:gridCol w="3962400">
                  <a:extLst>
                    <a:ext uri="{9D8B030D-6E8A-4147-A177-3AD203B41FA5}">
                      <a16:colId xmlns:a16="http://schemas.microsoft.com/office/drawing/2014/main" val="3119978082"/>
                    </a:ext>
                  </a:extLst>
                </a:gridCol>
                <a:gridCol w="3962400">
                  <a:extLst>
                    <a:ext uri="{9D8B030D-6E8A-4147-A177-3AD203B41FA5}">
                      <a16:colId xmlns:a16="http://schemas.microsoft.com/office/drawing/2014/main" val="2271931673"/>
                    </a:ext>
                  </a:extLst>
                </a:gridCol>
                <a:gridCol w="3962400">
                  <a:extLst>
                    <a:ext uri="{9D8B030D-6E8A-4147-A177-3AD203B41FA5}">
                      <a16:colId xmlns:a16="http://schemas.microsoft.com/office/drawing/2014/main" val="3706696679"/>
                    </a:ext>
                  </a:extLst>
                </a:gridCol>
              </a:tblGrid>
              <a:tr h="615919">
                <a:tc>
                  <a:txBody>
                    <a:bodyPr/>
                    <a:lstStyle/>
                    <a:p>
                      <a:pPr>
                        <a:buNone/>
                      </a:pPr>
                      <a:r>
                        <a:rPr lang="en-IN" sz="2000" dirty="0" err="1">
                          <a:effectLst/>
                        </a:rPr>
                        <a:t>S.No</a:t>
                      </a:r>
                      <a:endParaRPr lang="en-IN" sz="2000" dirty="0">
                        <a:effectLst/>
                      </a:endParaRP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IN" sz="2000">
                          <a:effectLst/>
                        </a:rPr>
                        <a:t>Paper</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IN" sz="2000">
                          <a:effectLst/>
                        </a:rPr>
                        <a:t>Main Idea</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IN" sz="2000">
                          <a:effectLst/>
                        </a:rPr>
                        <a:t>Limitation</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255566028"/>
                  </a:ext>
                </a:extLst>
              </a:tr>
              <a:tr h="1486982">
                <a:tc>
                  <a:txBody>
                    <a:bodyPr/>
                    <a:lstStyle/>
                    <a:p>
                      <a:pPr>
                        <a:buNone/>
                      </a:pPr>
                      <a:r>
                        <a:rPr lang="en-IN" sz="2000">
                          <a:effectLst/>
                        </a:rPr>
                        <a:t>1</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CrossCode: Multi-level Visualization of Program Execution (2023)</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Visualizes program execution at different abstraction levels to help understand program behavior.</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Focuses mainly on visualization, not system resource monitoring.</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847347738"/>
                  </a:ext>
                </a:extLst>
              </a:tr>
              <a:tr h="1486982">
                <a:tc>
                  <a:txBody>
                    <a:bodyPr/>
                    <a:lstStyle/>
                    <a:p>
                      <a:pPr>
                        <a:buNone/>
                      </a:pPr>
                      <a:r>
                        <a:rPr lang="en-IN" sz="2000">
                          <a:effectLst/>
                        </a:rPr>
                        <a:t>2</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Educational Program Visualization Using Execution Information (2024)</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Uses execution traces to visualize program operations like array reads and writes.</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dirty="0">
                          <a:effectLst/>
                        </a:rPr>
                        <a:t>Restricted only for education purpose.</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037127713"/>
                  </a:ext>
                </a:extLst>
              </a:tr>
              <a:tr h="1016882">
                <a:tc>
                  <a:txBody>
                    <a:bodyPr/>
                    <a:lstStyle/>
                    <a:p>
                      <a:pPr>
                        <a:buNone/>
                      </a:pPr>
                      <a:r>
                        <a:rPr lang="en-IN" sz="2000">
                          <a:effectLst/>
                        </a:rPr>
                        <a:t>3</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Graph-Based Program Visualization (Cal Poly Thesis)</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Uses graphs to represent program flow and function interactions.</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Does not monitor runtime performance metrics.</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852821297"/>
                  </a:ext>
                </a:extLst>
              </a:tr>
              <a:tr h="1251932">
                <a:tc>
                  <a:txBody>
                    <a:bodyPr/>
                    <a:lstStyle/>
                    <a:p>
                      <a:pPr>
                        <a:buNone/>
                      </a:pPr>
                      <a:r>
                        <a:rPr lang="en-IN" sz="2000">
                          <a:effectLst/>
                        </a:rPr>
                        <a:t>4</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Software Visualization (Stony Brook Report)</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Explains techniques to visualize software structure and execution behavior.</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Mostly theoretical with limited implementation.</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216109533"/>
                  </a:ext>
                </a:extLst>
              </a:tr>
              <a:tr h="1486982">
                <a:tc>
                  <a:txBody>
                    <a:bodyPr/>
                    <a:lstStyle/>
                    <a:p>
                      <a:pPr>
                        <a:buNone/>
                      </a:pPr>
                      <a:r>
                        <a:rPr lang="en-IN" sz="2000">
                          <a:effectLst/>
                        </a:rPr>
                        <a:t>5</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Program Visualization in Computer Science Education</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a:effectLst/>
                        </a:rPr>
                        <a:t>Shows that visualization improves understanding of programming concepts.</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2000" dirty="0">
                          <a:effectLst/>
                        </a:rPr>
                        <a:t>Focused on learning rather than performance monitoring.</a:t>
                      </a:r>
                    </a:p>
                  </a:txBody>
                  <a:tcPr marL="49718" marR="49718" marT="24859" marB="24859"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99694977"/>
                  </a:ext>
                </a:extLst>
              </a:tr>
            </a:tbl>
          </a:graphicData>
        </a:graphic>
      </p:graphicFrame>
      <p:sp>
        <p:nvSpPr>
          <p:cNvPr id="13" name="Rectangle 1">
            <a:extLst>
              <a:ext uri="{FF2B5EF4-FFF2-40B4-BE49-F238E27FC236}">
                <a16:creationId xmlns:a16="http://schemas.microsoft.com/office/drawing/2014/main" id="{234FD097-9CFF-6EDE-1BAC-DB46F45240D9}"/>
              </a:ext>
            </a:extLst>
          </p:cNvPr>
          <p:cNvSpPr>
            <a:spLocks noChangeArrowheads="1"/>
          </p:cNvSpPr>
          <p:nvPr/>
        </p:nvSpPr>
        <p:spPr bwMode="auto">
          <a:xfrm>
            <a:off x="2136273" y="1481137"/>
            <a:ext cx="5569387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11" name="TextBox 11"/>
          <p:cNvSpPr txBox="1"/>
          <p:nvPr/>
        </p:nvSpPr>
        <p:spPr>
          <a:xfrm>
            <a:off x="-76200" y="538434"/>
            <a:ext cx="11908110" cy="1651635"/>
          </a:xfrm>
          <a:prstGeom prst="rect">
            <a:avLst/>
          </a:prstGeom>
        </p:spPr>
        <p:txBody>
          <a:bodyPr lIns="0" tIns="0" rIns="0" bIns="0" rtlCol="0" anchor="t">
            <a:spAutoFit/>
          </a:bodyPr>
          <a:lstStyle/>
          <a:p>
            <a:pPr algn="ctr">
              <a:lnSpc>
                <a:spcPts val="13439"/>
              </a:lnSpc>
              <a:spcBef>
                <a:spcPct val="0"/>
              </a:spcBef>
            </a:pPr>
            <a:r>
              <a:rPr lang="en-US" sz="9600" dirty="0">
                <a:solidFill>
                  <a:srgbClr val="000000"/>
                </a:solidFill>
                <a:latin typeface="Bricolage Grotesque"/>
                <a:ea typeface="Bricolage Grotesque"/>
                <a:cs typeface="Bricolage Grotesque"/>
                <a:sym typeface="Bricolage Grotesque"/>
              </a:rPr>
              <a:t>Literature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id="10" name="TextBox 10"/>
          <p:cNvSpPr txBox="1"/>
          <p:nvPr/>
        </p:nvSpPr>
        <p:spPr>
          <a:xfrm>
            <a:off x="0" y="1121264"/>
            <a:ext cx="5687426"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Objectives</a:t>
            </a:r>
          </a:p>
        </p:txBody>
      </p:sp>
      <p:sp>
        <p:nvSpPr>
          <p:cNvPr id="11" name="TextBox 11"/>
          <p:cNvSpPr txBox="1"/>
          <p:nvPr/>
        </p:nvSpPr>
        <p:spPr>
          <a:xfrm>
            <a:off x="1028700" y="2395151"/>
            <a:ext cx="16384310" cy="5039360"/>
          </a:xfrm>
          <a:prstGeom prst="rect">
            <a:avLst/>
          </a:prstGeom>
        </p:spPr>
        <p:txBody>
          <a:bodyPr lIns="0" tIns="0" rIns="0" bIns="0" rtlCol="0" anchor="t">
            <a:spAutoFit/>
          </a:bodyPr>
          <a:lstStyle/>
          <a:p>
            <a:pPr algn="l">
              <a:lnSpc>
                <a:spcPts val="5740"/>
              </a:lnSpc>
            </a:pPr>
            <a:r>
              <a:rPr lang="en-US" sz="4100">
                <a:solidFill>
                  <a:srgbClr val="000000"/>
                </a:solidFill>
                <a:latin typeface="Canva Sans"/>
                <a:ea typeface="Canva Sans"/>
                <a:cs typeface="Canva Sans"/>
                <a:sym typeface="Canva Sans"/>
              </a:rPr>
              <a:t>The main objectives of this project are:</a:t>
            </a:r>
          </a:p>
          <a:p>
            <a:pPr algn="l">
              <a:lnSpc>
                <a:spcPts val="5740"/>
              </a:lnSpc>
            </a:pPr>
            <a:r>
              <a:rPr lang="en-US" sz="4100">
                <a:solidFill>
                  <a:srgbClr val="000000"/>
                </a:solidFill>
                <a:latin typeface="Canva Sans"/>
                <a:ea typeface="Canva Sans"/>
                <a:cs typeface="Canva Sans"/>
                <a:sym typeface="Canva Sans"/>
              </a:rPr>
              <a:t>• Monitor program execution step-by-step</a:t>
            </a:r>
          </a:p>
          <a:p>
            <a:pPr algn="l">
              <a:lnSpc>
                <a:spcPts val="5740"/>
              </a:lnSpc>
            </a:pPr>
            <a:r>
              <a:rPr lang="en-US" sz="4100">
                <a:solidFill>
                  <a:srgbClr val="000000"/>
                </a:solidFill>
                <a:latin typeface="Canva Sans"/>
                <a:ea typeface="Canva Sans"/>
                <a:cs typeface="Canva Sans"/>
                <a:sym typeface="Canva Sans"/>
              </a:rPr>
              <a:t> • Track function calls and returns</a:t>
            </a:r>
          </a:p>
          <a:p>
            <a:pPr algn="l">
              <a:lnSpc>
                <a:spcPts val="5740"/>
              </a:lnSpc>
            </a:pPr>
            <a:r>
              <a:rPr lang="en-US" sz="4100">
                <a:solidFill>
                  <a:srgbClr val="000000"/>
                </a:solidFill>
                <a:latin typeface="Canva Sans"/>
                <a:ea typeface="Canva Sans"/>
                <a:cs typeface="Canva Sans"/>
                <a:sym typeface="Canva Sans"/>
              </a:rPr>
              <a:t> • Observe variable value changes during runtime</a:t>
            </a:r>
          </a:p>
          <a:p>
            <a:pPr algn="l">
              <a:lnSpc>
                <a:spcPts val="5740"/>
              </a:lnSpc>
            </a:pPr>
            <a:r>
              <a:rPr lang="en-US" sz="4100">
                <a:solidFill>
                  <a:srgbClr val="000000"/>
                </a:solidFill>
                <a:latin typeface="Canva Sans"/>
                <a:ea typeface="Canva Sans"/>
                <a:cs typeface="Canva Sans"/>
                <a:sym typeface="Canva Sans"/>
              </a:rPr>
              <a:t> • Measure CPU usage and RAM usage</a:t>
            </a:r>
          </a:p>
          <a:p>
            <a:pPr algn="l">
              <a:lnSpc>
                <a:spcPts val="5740"/>
              </a:lnSpc>
            </a:pPr>
            <a:r>
              <a:rPr lang="en-US" sz="4100">
                <a:solidFill>
                  <a:srgbClr val="000000"/>
                </a:solidFill>
                <a:latin typeface="Canva Sans"/>
                <a:ea typeface="Canva Sans"/>
                <a:cs typeface="Canva Sans"/>
                <a:sym typeface="Canva Sans"/>
              </a:rPr>
              <a:t> • Measure execution time and memory consumption</a:t>
            </a:r>
          </a:p>
          <a:p>
            <a:pPr algn="l">
              <a:lnSpc>
                <a:spcPts val="5740"/>
              </a:lnSpc>
            </a:pPr>
            <a:r>
              <a:rPr lang="en-US" sz="4100">
                <a:solidFill>
                  <a:srgbClr val="000000"/>
                </a:solidFill>
                <a:latin typeface="Canva Sans"/>
                <a:ea typeface="Canva Sans"/>
                <a:cs typeface="Canva Sans"/>
                <a:sym typeface="Canva Sans"/>
              </a:rPr>
              <a:t> • Visualize execution behavior using graphs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10" name="TextBox 10"/>
          <p:cNvSpPr txBox="1"/>
          <p:nvPr/>
        </p:nvSpPr>
        <p:spPr>
          <a:xfrm>
            <a:off x="419654" y="633456"/>
            <a:ext cx="12050968"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Tools &amp; Technologies Used</a:t>
            </a:r>
          </a:p>
        </p:txBody>
      </p:sp>
      <p:sp>
        <p:nvSpPr>
          <p:cNvPr id="11" name="TextBox 11"/>
          <p:cNvSpPr txBox="1"/>
          <p:nvPr/>
        </p:nvSpPr>
        <p:spPr>
          <a:xfrm>
            <a:off x="816124" y="2199460"/>
            <a:ext cx="15973532" cy="7292446"/>
          </a:xfrm>
          <a:prstGeom prst="rect">
            <a:avLst/>
          </a:prstGeom>
        </p:spPr>
        <p:txBody>
          <a:bodyPr lIns="0" tIns="0" rIns="0" bIns="0" rtlCol="0" anchor="t">
            <a:spAutoFit/>
          </a:bodyPr>
          <a:lstStyle/>
          <a:p>
            <a:pPr marL="807428" lvl="1" indent="-403714" algn="l">
              <a:lnSpc>
                <a:spcPts val="5235"/>
              </a:lnSpc>
              <a:buAutoNum type="arabicPeriod"/>
            </a:pPr>
            <a:r>
              <a:rPr lang="en-US" sz="3739" dirty="0">
                <a:solidFill>
                  <a:srgbClr val="000000"/>
                </a:solidFill>
                <a:latin typeface="Canva Sans"/>
                <a:ea typeface="Canva Sans"/>
                <a:cs typeface="Canva Sans"/>
                <a:sym typeface="Canva Sans"/>
              </a:rPr>
              <a:t>Programming Language</a:t>
            </a:r>
          </a:p>
          <a:p>
            <a:pPr marL="807428" lvl="1" indent="-403714" algn="l">
              <a:lnSpc>
                <a:spcPts val="5235"/>
              </a:lnSpc>
              <a:buFont typeface="Arial"/>
              <a:buChar char="•"/>
            </a:pPr>
            <a:r>
              <a:rPr lang="en-US" sz="3739" dirty="0">
                <a:solidFill>
                  <a:srgbClr val="000000"/>
                </a:solidFill>
                <a:latin typeface="Canva Sans"/>
                <a:ea typeface="Canva Sans"/>
                <a:cs typeface="Canva Sans"/>
                <a:sym typeface="Canva Sans"/>
              </a:rPr>
              <a:t> Python</a:t>
            </a:r>
          </a:p>
          <a:p>
            <a:pPr marL="807428" lvl="1" indent="-403714" algn="l">
              <a:lnSpc>
                <a:spcPts val="5235"/>
              </a:lnSpc>
              <a:buAutoNum type="arabicPeriod"/>
            </a:pPr>
            <a:r>
              <a:rPr lang="en-US" sz="3739" dirty="0">
                <a:solidFill>
                  <a:srgbClr val="000000"/>
                </a:solidFill>
                <a:latin typeface="Canva Sans"/>
                <a:ea typeface="Canva Sans"/>
                <a:cs typeface="Canva Sans"/>
                <a:sym typeface="Canva Sans"/>
              </a:rPr>
              <a:t>Libraries Used</a:t>
            </a:r>
          </a:p>
          <a:p>
            <a:pPr marL="807428" lvl="1" indent="-403714" algn="l">
              <a:lnSpc>
                <a:spcPts val="5235"/>
              </a:lnSpc>
              <a:buFont typeface="Arial"/>
              <a:buChar char="•"/>
            </a:pPr>
            <a:r>
              <a:rPr lang="en-US" sz="3739" dirty="0">
                <a:solidFill>
                  <a:srgbClr val="000000"/>
                </a:solidFill>
                <a:latin typeface="Canva Sans"/>
                <a:ea typeface="Canva Sans"/>
                <a:cs typeface="Canva Sans"/>
                <a:sym typeface="Canva Sans"/>
              </a:rPr>
              <a:t>sys: Used for execution tracing using </a:t>
            </a:r>
            <a:r>
              <a:rPr lang="en-US" sz="3739" dirty="0" err="1">
                <a:solidFill>
                  <a:srgbClr val="000000"/>
                </a:solidFill>
                <a:latin typeface="Canva Sans"/>
                <a:ea typeface="Canva Sans"/>
                <a:cs typeface="Canva Sans"/>
                <a:sym typeface="Canva Sans"/>
              </a:rPr>
              <a:t>sys.settrace</a:t>
            </a:r>
            <a:r>
              <a:rPr lang="en-US" sz="3739" dirty="0">
                <a:solidFill>
                  <a:srgbClr val="000000"/>
                </a:solidFill>
                <a:latin typeface="Canva Sans"/>
                <a:ea typeface="Canva Sans"/>
                <a:cs typeface="Canva Sans"/>
                <a:sym typeface="Canva Sans"/>
              </a:rPr>
              <a:t>().</a:t>
            </a:r>
          </a:p>
          <a:p>
            <a:pPr marL="807428" lvl="1" indent="-403714" algn="l">
              <a:lnSpc>
                <a:spcPts val="5235"/>
              </a:lnSpc>
              <a:buFont typeface="Arial"/>
              <a:buChar char="•"/>
            </a:pPr>
            <a:r>
              <a:rPr lang="en-US" sz="3739" dirty="0" err="1">
                <a:solidFill>
                  <a:srgbClr val="000000"/>
                </a:solidFill>
                <a:latin typeface="Canva Sans"/>
                <a:ea typeface="Canva Sans"/>
                <a:cs typeface="Canva Sans"/>
                <a:sym typeface="Canva Sans"/>
              </a:rPr>
              <a:t>os</a:t>
            </a:r>
            <a:r>
              <a:rPr lang="en-US" sz="3739" dirty="0">
                <a:solidFill>
                  <a:srgbClr val="000000"/>
                </a:solidFill>
                <a:latin typeface="Canva Sans"/>
                <a:ea typeface="Canva Sans"/>
                <a:cs typeface="Canva Sans"/>
                <a:sym typeface="Canva Sans"/>
              </a:rPr>
              <a:t>: Used for file handling and locating the user program.</a:t>
            </a:r>
          </a:p>
          <a:p>
            <a:pPr marL="807428" lvl="1" indent="-403714" algn="l">
              <a:lnSpc>
                <a:spcPts val="5235"/>
              </a:lnSpc>
              <a:buFont typeface="Arial"/>
              <a:buChar char="•"/>
            </a:pPr>
            <a:r>
              <a:rPr lang="en-US" sz="3739" dirty="0" err="1">
                <a:solidFill>
                  <a:srgbClr val="000000"/>
                </a:solidFill>
                <a:latin typeface="Canva Sans"/>
                <a:ea typeface="Canva Sans"/>
                <a:cs typeface="Canva Sans"/>
                <a:sym typeface="Canva Sans"/>
              </a:rPr>
              <a:t>tracemalloc</a:t>
            </a:r>
            <a:r>
              <a:rPr lang="en-US" sz="3739" dirty="0">
                <a:solidFill>
                  <a:srgbClr val="000000"/>
                </a:solidFill>
                <a:latin typeface="Canva Sans"/>
                <a:ea typeface="Canva Sans"/>
                <a:cs typeface="Canva Sans"/>
                <a:sym typeface="Canva Sans"/>
              </a:rPr>
              <a:t>: Tracks memory allocation and peak memory usage.</a:t>
            </a:r>
          </a:p>
          <a:p>
            <a:pPr marL="807428" lvl="1" indent="-403714" algn="l">
              <a:lnSpc>
                <a:spcPts val="5235"/>
              </a:lnSpc>
              <a:buFont typeface="Arial"/>
              <a:buChar char="•"/>
            </a:pPr>
            <a:r>
              <a:rPr lang="en-US" sz="3739" dirty="0" err="1">
                <a:solidFill>
                  <a:srgbClr val="000000"/>
                </a:solidFill>
                <a:latin typeface="Canva Sans"/>
                <a:ea typeface="Canva Sans"/>
                <a:cs typeface="Canva Sans"/>
                <a:sym typeface="Canva Sans"/>
              </a:rPr>
              <a:t>psutil</a:t>
            </a:r>
            <a:r>
              <a:rPr lang="en-US" sz="3739" dirty="0">
                <a:solidFill>
                  <a:srgbClr val="000000"/>
                </a:solidFill>
                <a:latin typeface="Canva Sans"/>
                <a:ea typeface="Canva Sans"/>
                <a:cs typeface="Canva Sans"/>
                <a:sym typeface="Canva Sans"/>
              </a:rPr>
              <a:t>: Used for monitoring CPU usage, RAM usage, and process memory.</a:t>
            </a:r>
          </a:p>
          <a:p>
            <a:pPr marL="807428" lvl="1" indent="-403714" algn="l">
              <a:lnSpc>
                <a:spcPts val="5235"/>
              </a:lnSpc>
              <a:buFont typeface="Arial"/>
              <a:buChar char="•"/>
            </a:pPr>
            <a:r>
              <a:rPr lang="en-US" sz="3739" dirty="0">
                <a:solidFill>
                  <a:srgbClr val="000000"/>
                </a:solidFill>
                <a:latin typeface="Canva Sans"/>
                <a:ea typeface="Canva Sans"/>
                <a:cs typeface="Canva Sans"/>
                <a:sym typeface="Canva Sans"/>
              </a:rPr>
              <a:t>time: Used to measure execution time.</a:t>
            </a:r>
          </a:p>
          <a:p>
            <a:pPr marL="807428" lvl="1" indent="-403714" algn="l">
              <a:lnSpc>
                <a:spcPts val="5235"/>
              </a:lnSpc>
              <a:buFont typeface="Arial"/>
              <a:buChar char="•"/>
            </a:pPr>
            <a:r>
              <a:rPr lang="en-US" sz="3739" dirty="0">
                <a:solidFill>
                  <a:srgbClr val="000000"/>
                </a:solidFill>
                <a:latin typeface="Canva Sans"/>
                <a:ea typeface="Canva Sans"/>
                <a:cs typeface="Canva Sans"/>
                <a:sym typeface="Canva Sans"/>
              </a:rPr>
              <a:t>matplotlib: Used to generate performance graphs for analysis.</a:t>
            </a:r>
          </a:p>
          <a:p>
            <a:pPr marL="807428" lvl="1" indent="-403714">
              <a:lnSpc>
                <a:spcPts val="5235"/>
              </a:lnSpc>
              <a:buFont typeface="Arial"/>
              <a:buChar char="•"/>
            </a:pPr>
            <a:r>
              <a:rPr lang="en-IN" sz="4000" dirty="0"/>
              <a:t>GPU utilization</a:t>
            </a:r>
            <a:endParaRPr lang="en-US" sz="3739" dirty="0">
              <a:solidFill>
                <a:srgbClr val="000000"/>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0" name="TextBox 10"/>
          <p:cNvSpPr txBox="1"/>
          <p:nvPr/>
        </p:nvSpPr>
        <p:spPr>
          <a:xfrm>
            <a:off x="447684" y="958960"/>
            <a:ext cx="14573692"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Improvements after Mid-Review</a:t>
            </a:r>
          </a:p>
        </p:txBody>
      </p:sp>
      <p:sp>
        <p:nvSpPr>
          <p:cNvPr id="11" name="TextBox 11"/>
          <p:cNvSpPr txBox="1"/>
          <p:nvPr/>
        </p:nvSpPr>
        <p:spPr>
          <a:xfrm>
            <a:off x="816124" y="2576305"/>
            <a:ext cx="15973532" cy="5988309"/>
          </a:xfrm>
          <a:prstGeom prst="rect">
            <a:avLst/>
          </a:prstGeom>
        </p:spPr>
        <p:txBody>
          <a:bodyPr lIns="0" tIns="0" rIns="0" bIns="0" rtlCol="0" anchor="t">
            <a:spAutoFit/>
          </a:bodyPr>
          <a:lstStyle/>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Interactive UI (Streamlit-based IDE)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Real-time execution tracking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Graph visualization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Call stack visualization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Variable timeline tracking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Program comparison system </a:t>
            </a:r>
          </a:p>
          <a:p>
            <a:pPr marL="915375" lvl="1" indent="-457687" algn="l">
              <a:lnSpc>
                <a:spcPts val="5935"/>
              </a:lnSpc>
              <a:buFont typeface="Arial"/>
              <a:buChar char="•"/>
            </a:pPr>
            <a:r>
              <a:rPr lang="en-US" sz="4239">
                <a:solidFill>
                  <a:srgbClr val="000000"/>
                </a:solidFill>
                <a:latin typeface="Canva Sans"/>
                <a:ea typeface="Canva Sans"/>
                <a:cs typeface="Canva Sans"/>
                <a:sym typeface="Canva Sans"/>
              </a:rPr>
              <a:t>Insights engine </a:t>
            </a:r>
          </a:p>
          <a:p>
            <a:pPr algn="l">
              <a:lnSpc>
                <a:spcPts val="5935"/>
              </a:lnSpc>
            </a:pPr>
            <a:endParaRPr lang="en-US" sz="4239">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10" name="TextBox 10"/>
          <p:cNvSpPr txBox="1"/>
          <p:nvPr/>
        </p:nvSpPr>
        <p:spPr>
          <a:xfrm>
            <a:off x="447684" y="958960"/>
            <a:ext cx="8830992"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UI Transformation</a:t>
            </a:r>
          </a:p>
        </p:txBody>
      </p:sp>
      <p:sp>
        <p:nvSpPr>
          <p:cNvPr id="11" name="TextBox 11"/>
          <p:cNvSpPr txBox="1"/>
          <p:nvPr/>
        </p:nvSpPr>
        <p:spPr>
          <a:xfrm>
            <a:off x="1421976" y="2282089"/>
            <a:ext cx="12180128" cy="7443657"/>
          </a:xfrm>
          <a:prstGeom prst="rect">
            <a:avLst/>
          </a:prstGeom>
        </p:spPr>
        <p:txBody>
          <a:bodyPr lIns="0" tIns="0" rIns="0" bIns="0" rtlCol="0" anchor="t">
            <a:spAutoFit/>
          </a:bodyPr>
          <a:lstStyle/>
          <a:p>
            <a:pPr algn="l">
              <a:lnSpc>
                <a:spcPts val="4526"/>
              </a:lnSpc>
            </a:pPr>
            <a:r>
              <a:rPr lang="en-US" sz="3232" b="1">
                <a:solidFill>
                  <a:srgbClr val="000000"/>
                </a:solidFill>
                <a:latin typeface="Canva Sans Bold"/>
                <a:ea typeface="Canva Sans Bold"/>
                <a:cs typeface="Canva Sans Bold"/>
                <a:sym typeface="Canva Sans Bold"/>
              </a:rPr>
              <a:t>Before:</a:t>
            </a:r>
          </a:p>
          <a:p>
            <a:pPr algn="l">
              <a:lnSpc>
                <a:spcPts val="4526"/>
              </a:lnSpc>
            </a:pPr>
            <a:r>
              <a:rPr lang="en-US" sz="3232">
                <a:solidFill>
                  <a:srgbClr val="000000"/>
                </a:solidFill>
                <a:latin typeface="Canva Sans"/>
                <a:ea typeface="Canva Sans"/>
                <a:cs typeface="Canva Sans"/>
                <a:sym typeface="Canva Sans"/>
              </a:rPr>
              <a:t>•Terminal-based output </a:t>
            </a:r>
          </a:p>
          <a:p>
            <a:pPr algn="l">
              <a:lnSpc>
                <a:spcPts val="4526"/>
              </a:lnSpc>
            </a:pPr>
            <a:r>
              <a:rPr lang="en-US" sz="3232">
                <a:solidFill>
                  <a:srgbClr val="000000"/>
                </a:solidFill>
                <a:latin typeface="Canva Sans"/>
                <a:ea typeface="Canva Sans"/>
                <a:cs typeface="Canva Sans"/>
                <a:sym typeface="Canva Sans"/>
              </a:rPr>
              <a:t>•Hard to understand </a:t>
            </a:r>
          </a:p>
          <a:p>
            <a:pPr algn="l">
              <a:lnSpc>
                <a:spcPts val="4526"/>
              </a:lnSpc>
            </a:pPr>
            <a:endParaRPr lang="en-US" sz="3232">
              <a:solidFill>
                <a:srgbClr val="000000"/>
              </a:solidFill>
              <a:latin typeface="Canva Sans"/>
              <a:ea typeface="Canva Sans"/>
              <a:cs typeface="Canva Sans"/>
              <a:sym typeface="Canva Sans"/>
            </a:endParaRPr>
          </a:p>
          <a:p>
            <a:pPr algn="l">
              <a:lnSpc>
                <a:spcPts val="4526"/>
              </a:lnSpc>
            </a:pPr>
            <a:r>
              <a:rPr lang="en-US" sz="3232" b="1">
                <a:solidFill>
                  <a:srgbClr val="000000"/>
                </a:solidFill>
                <a:latin typeface="Canva Sans Bold"/>
                <a:ea typeface="Canva Sans Bold"/>
                <a:cs typeface="Canva Sans Bold"/>
                <a:sym typeface="Canva Sans Bold"/>
              </a:rPr>
              <a:t>After:</a:t>
            </a:r>
          </a:p>
          <a:p>
            <a:pPr algn="l">
              <a:lnSpc>
                <a:spcPts val="4526"/>
              </a:lnSpc>
            </a:pPr>
            <a:r>
              <a:rPr lang="en-US" sz="3232">
                <a:solidFill>
                  <a:srgbClr val="000000"/>
                </a:solidFill>
                <a:latin typeface="Canva Sans"/>
                <a:ea typeface="Canva Sans"/>
                <a:cs typeface="Canva Sans"/>
                <a:sym typeface="Canva Sans"/>
              </a:rPr>
              <a:t>•Full IDE interface </a:t>
            </a:r>
          </a:p>
          <a:p>
            <a:pPr algn="l">
              <a:lnSpc>
                <a:spcPts val="4526"/>
              </a:lnSpc>
            </a:pPr>
            <a:r>
              <a:rPr lang="en-US" sz="3232">
                <a:solidFill>
                  <a:srgbClr val="000000"/>
                </a:solidFill>
                <a:latin typeface="Canva Sans"/>
                <a:ea typeface="Canva Sans"/>
                <a:cs typeface="Canva Sans"/>
                <a:sym typeface="Canva Sans"/>
              </a:rPr>
              <a:t>•Visual panels: </a:t>
            </a:r>
          </a:p>
          <a:p>
            <a:pPr algn="l">
              <a:lnSpc>
                <a:spcPts val="4526"/>
              </a:lnSpc>
            </a:pPr>
            <a:r>
              <a:rPr lang="en-US" sz="3232">
                <a:solidFill>
                  <a:srgbClr val="000000"/>
                </a:solidFill>
                <a:latin typeface="Canva Sans"/>
                <a:ea typeface="Canva Sans"/>
                <a:cs typeface="Canva Sans"/>
                <a:sym typeface="Canva Sans"/>
              </a:rPr>
              <a:t>•Code editor </a:t>
            </a:r>
          </a:p>
          <a:p>
            <a:pPr algn="l">
              <a:lnSpc>
                <a:spcPts val="4526"/>
              </a:lnSpc>
            </a:pPr>
            <a:r>
              <a:rPr lang="en-US" sz="3232">
                <a:solidFill>
                  <a:srgbClr val="000000"/>
                </a:solidFill>
                <a:latin typeface="Canva Sans"/>
                <a:ea typeface="Canva Sans"/>
                <a:cs typeface="Canva Sans"/>
                <a:sym typeface="Canva Sans"/>
              </a:rPr>
              <a:t>•Console </a:t>
            </a:r>
          </a:p>
          <a:p>
            <a:pPr algn="l">
              <a:lnSpc>
                <a:spcPts val="4526"/>
              </a:lnSpc>
            </a:pPr>
            <a:r>
              <a:rPr lang="en-US" sz="3232">
                <a:solidFill>
                  <a:srgbClr val="000000"/>
                </a:solidFill>
                <a:latin typeface="Canva Sans"/>
                <a:ea typeface="Canva Sans"/>
                <a:cs typeface="Canva Sans"/>
                <a:sym typeface="Canva Sans"/>
              </a:rPr>
              <a:t>•Graphs </a:t>
            </a:r>
          </a:p>
          <a:p>
            <a:pPr algn="l">
              <a:lnSpc>
                <a:spcPts val="4526"/>
              </a:lnSpc>
            </a:pPr>
            <a:r>
              <a:rPr lang="en-US" sz="3232">
                <a:solidFill>
                  <a:srgbClr val="000000"/>
                </a:solidFill>
                <a:latin typeface="Canva Sans"/>
                <a:ea typeface="Canva Sans"/>
                <a:cs typeface="Canva Sans"/>
                <a:sym typeface="Canva Sans"/>
              </a:rPr>
              <a:t>•Variables </a:t>
            </a:r>
          </a:p>
          <a:p>
            <a:pPr algn="l">
              <a:lnSpc>
                <a:spcPts val="4526"/>
              </a:lnSpc>
            </a:pPr>
            <a:r>
              <a:rPr lang="en-US" sz="3232">
                <a:solidFill>
                  <a:srgbClr val="000000"/>
                </a:solidFill>
                <a:latin typeface="Canva Sans"/>
                <a:ea typeface="Canva Sans"/>
                <a:cs typeface="Canva Sans"/>
                <a:sym typeface="Canva Sans"/>
              </a:rPr>
              <a:t>•Call stack</a:t>
            </a:r>
          </a:p>
          <a:p>
            <a:pPr algn="l">
              <a:lnSpc>
                <a:spcPts val="4526"/>
              </a:lnSpc>
            </a:pPr>
            <a:endParaRPr lang="en-US" sz="3232">
              <a:solidFill>
                <a:srgbClr val="000000"/>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4066415" y="1194296"/>
            <a:ext cx="11898821" cy="9092704"/>
          </a:xfrm>
          <a:custGeom>
            <a:avLst/>
            <a:gdLst/>
            <a:ahLst/>
            <a:cxnLst/>
            <a:rect l="l" t="t" r="r" b="b"/>
            <a:pathLst>
              <a:path w="11898821" h="9092704">
                <a:moveTo>
                  <a:pt x="0" y="0"/>
                </a:moveTo>
                <a:lnTo>
                  <a:pt x="11898821" y="0"/>
                </a:lnTo>
                <a:lnTo>
                  <a:pt x="11898821" y="9092704"/>
                </a:lnTo>
                <a:lnTo>
                  <a:pt x="0" y="9092704"/>
                </a:lnTo>
                <a:lnTo>
                  <a:pt x="0" y="0"/>
                </a:lnTo>
                <a:close/>
              </a:path>
            </a:pathLst>
          </a:custGeom>
          <a:blipFill>
            <a:blip r:embed="rId2"/>
            <a:stretch>
              <a:fillRect t="-17447"/>
            </a:stretch>
          </a:blipFill>
        </p:spPr>
      </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id="11" name="TextBox 11"/>
          <p:cNvSpPr txBox="1"/>
          <p:nvPr/>
        </p:nvSpPr>
        <p:spPr>
          <a:xfrm>
            <a:off x="0" y="339090"/>
            <a:ext cx="10077693"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System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grpSp>
        <p:nvGrpSpPr>
          <p:cNvPr id="9" name="Group 9"/>
          <p:cNvGrpSpPr/>
          <p:nvPr/>
        </p:nvGrpSpPr>
        <p:grpSpPr>
          <a:xfrm>
            <a:off x="526039" y="4238786"/>
            <a:ext cx="5885407" cy="3281061"/>
            <a:chOff x="0" y="0"/>
            <a:chExt cx="888370" cy="495258"/>
          </a:xfrm>
        </p:grpSpPr>
        <p:sp>
          <p:nvSpPr>
            <p:cNvPr id="10" name="Freeform 10"/>
            <p:cNvSpPr/>
            <p:nvPr/>
          </p:nvSpPr>
          <p:spPr>
            <a:xfrm>
              <a:off x="0" y="0"/>
              <a:ext cx="888370" cy="495258"/>
            </a:xfrm>
            <a:custGeom>
              <a:avLst/>
              <a:gdLst/>
              <a:ahLst/>
              <a:cxnLst/>
              <a:rect l="l" t="t" r="r" b="b"/>
              <a:pathLst>
                <a:path w="888370" h="495258">
                  <a:moveTo>
                    <a:pt x="25692" y="0"/>
                  </a:moveTo>
                  <a:lnTo>
                    <a:pt x="862678" y="0"/>
                  </a:lnTo>
                  <a:cubicBezTo>
                    <a:pt x="876868" y="0"/>
                    <a:pt x="888370" y="11503"/>
                    <a:pt x="888370" y="25692"/>
                  </a:cubicBezTo>
                  <a:lnTo>
                    <a:pt x="888370" y="469566"/>
                  </a:lnTo>
                  <a:cubicBezTo>
                    <a:pt x="888370" y="483755"/>
                    <a:pt x="876868" y="495258"/>
                    <a:pt x="862678" y="495258"/>
                  </a:cubicBezTo>
                  <a:lnTo>
                    <a:pt x="25692" y="495258"/>
                  </a:lnTo>
                  <a:cubicBezTo>
                    <a:pt x="11503" y="495258"/>
                    <a:pt x="0" y="483755"/>
                    <a:pt x="0" y="469566"/>
                  </a:cubicBezTo>
                  <a:lnTo>
                    <a:pt x="0" y="25692"/>
                  </a:lnTo>
                  <a:cubicBezTo>
                    <a:pt x="0" y="11503"/>
                    <a:pt x="11503" y="0"/>
                    <a:pt x="25692" y="0"/>
                  </a:cubicBezTo>
                  <a:close/>
                </a:path>
              </a:pathLst>
            </a:custGeom>
            <a:gradFill rotWithShape="1">
              <a:gsLst>
                <a:gs pos="0">
                  <a:srgbClr val="000000">
                    <a:alpha val="100000"/>
                  </a:srgbClr>
                </a:gs>
                <a:gs pos="100000">
                  <a:srgbClr val="737373">
                    <a:alpha val="100000"/>
                  </a:srgbClr>
                </a:gs>
              </a:gsLst>
              <a:lin ang="0"/>
            </a:gradFill>
          </p:spPr>
        </p:sp>
        <p:sp>
          <p:nvSpPr>
            <p:cNvPr id="11" name="TextBox 11"/>
            <p:cNvSpPr txBox="1"/>
            <p:nvPr/>
          </p:nvSpPr>
          <p:spPr>
            <a:xfrm>
              <a:off x="0" y="-57150"/>
              <a:ext cx="888370" cy="552408"/>
            </a:xfrm>
            <a:prstGeom prst="rect">
              <a:avLst/>
            </a:prstGeom>
          </p:spPr>
          <p:txBody>
            <a:bodyPr lIns="50800" tIns="50800" rIns="50800" bIns="50800" rtlCol="0" anchor="ctr"/>
            <a:lstStyle/>
            <a:p>
              <a:pPr algn="ctr">
                <a:lnSpc>
                  <a:spcPts val="3919"/>
                </a:lnSpc>
              </a:pPr>
              <a:r>
                <a:rPr lang="en-US" sz="2799">
                  <a:solidFill>
                    <a:srgbClr val="FFFFFF"/>
                  </a:solidFill>
                  <a:latin typeface="Canva Sans"/>
                  <a:ea typeface="Canva Sans"/>
                  <a:cs typeface="Canva Sans"/>
                  <a:sym typeface="Canva Sans"/>
                </a:rPr>
                <a:t>CPU Telemetry</a:t>
              </a:r>
            </a:p>
            <a:p>
              <a:pPr algn="ctr">
                <a:lnSpc>
                  <a:spcPts val="3919"/>
                </a:lnSpc>
              </a:pPr>
              <a:endParaRPr lang="en-US" sz="2799">
                <a:solidFill>
                  <a:srgbClr val="FFFFFF"/>
                </a:solidFill>
                <a:latin typeface="Canva Sans"/>
                <a:ea typeface="Canva Sans"/>
                <a:cs typeface="Canva Sans"/>
                <a:sym typeface="Canva Sans"/>
              </a:endParaRPr>
            </a:p>
            <a:p>
              <a:pPr algn="ctr">
                <a:lnSpc>
                  <a:spcPts val="3919"/>
                </a:lnSpc>
              </a:pPr>
              <a:r>
                <a:rPr lang="en-US" sz="2799">
                  <a:solidFill>
                    <a:srgbClr val="FFFFFF"/>
                  </a:solidFill>
                  <a:latin typeface="Canva Sans"/>
                  <a:ea typeface="Canva Sans"/>
                  <a:cs typeface="Canva Sans"/>
                  <a:sym typeface="Canva Sans"/>
                </a:rPr>
                <a:t>Captures process CPU percentage to identify</a:t>
              </a:r>
            </a:p>
            <a:p>
              <a:pPr algn="ctr">
                <a:lnSpc>
                  <a:spcPts val="3919"/>
                </a:lnSpc>
              </a:pPr>
              <a:r>
                <a:rPr lang="en-US" sz="2799">
                  <a:solidFill>
                    <a:srgbClr val="FFFFFF"/>
                  </a:solidFill>
                  <a:latin typeface="Canva Sans"/>
                  <a:ea typeface="Canva Sans"/>
                  <a:cs typeface="Canva Sans"/>
                  <a:sym typeface="Canva Sans"/>
                </a:rPr>
                <a:t>computationally expensive loops.</a:t>
              </a:r>
            </a:p>
          </p:txBody>
        </p:sp>
      </p:grpSp>
      <p:grpSp>
        <p:nvGrpSpPr>
          <p:cNvPr id="12" name="Group 12"/>
          <p:cNvGrpSpPr/>
          <p:nvPr/>
        </p:nvGrpSpPr>
        <p:grpSpPr>
          <a:xfrm>
            <a:off x="6831900" y="4238786"/>
            <a:ext cx="5390821" cy="3281061"/>
            <a:chOff x="0" y="0"/>
            <a:chExt cx="1109222" cy="675115"/>
          </a:xfrm>
        </p:grpSpPr>
        <p:sp>
          <p:nvSpPr>
            <p:cNvPr id="13" name="Freeform 13"/>
            <p:cNvSpPr/>
            <p:nvPr/>
          </p:nvSpPr>
          <p:spPr>
            <a:xfrm>
              <a:off x="0" y="0"/>
              <a:ext cx="1109222" cy="675115"/>
            </a:xfrm>
            <a:custGeom>
              <a:avLst/>
              <a:gdLst/>
              <a:ahLst/>
              <a:cxnLst/>
              <a:rect l="l" t="t" r="r" b="b"/>
              <a:pathLst>
                <a:path w="1109222" h="675115">
                  <a:moveTo>
                    <a:pt x="28049" y="0"/>
                  </a:moveTo>
                  <a:lnTo>
                    <a:pt x="1081173" y="0"/>
                  </a:lnTo>
                  <a:cubicBezTo>
                    <a:pt x="1096664" y="0"/>
                    <a:pt x="1109222" y="12558"/>
                    <a:pt x="1109222" y="28049"/>
                  </a:cubicBezTo>
                  <a:lnTo>
                    <a:pt x="1109222" y="647066"/>
                  </a:lnTo>
                  <a:cubicBezTo>
                    <a:pt x="1109222" y="654505"/>
                    <a:pt x="1106267" y="661640"/>
                    <a:pt x="1101007" y="666900"/>
                  </a:cubicBezTo>
                  <a:cubicBezTo>
                    <a:pt x="1095747" y="672160"/>
                    <a:pt x="1088612" y="675115"/>
                    <a:pt x="1081173" y="675115"/>
                  </a:cubicBezTo>
                  <a:lnTo>
                    <a:pt x="28049" y="675115"/>
                  </a:lnTo>
                  <a:cubicBezTo>
                    <a:pt x="12558" y="675115"/>
                    <a:pt x="0" y="662557"/>
                    <a:pt x="0" y="647066"/>
                  </a:cubicBezTo>
                  <a:lnTo>
                    <a:pt x="0" y="28049"/>
                  </a:lnTo>
                  <a:cubicBezTo>
                    <a:pt x="0" y="12558"/>
                    <a:pt x="12558" y="0"/>
                    <a:pt x="28049" y="0"/>
                  </a:cubicBezTo>
                  <a:close/>
                </a:path>
              </a:pathLst>
            </a:custGeom>
            <a:gradFill rotWithShape="1">
              <a:gsLst>
                <a:gs pos="0">
                  <a:srgbClr val="000000">
                    <a:alpha val="100000"/>
                  </a:srgbClr>
                </a:gs>
                <a:gs pos="100000">
                  <a:srgbClr val="737373">
                    <a:alpha val="100000"/>
                  </a:srgbClr>
                </a:gs>
              </a:gsLst>
              <a:lin ang="0"/>
            </a:gradFill>
          </p:spPr>
        </p:sp>
        <p:sp>
          <p:nvSpPr>
            <p:cNvPr id="14" name="TextBox 14"/>
            <p:cNvSpPr txBox="1"/>
            <p:nvPr/>
          </p:nvSpPr>
          <p:spPr>
            <a:xfrm>
              <a:off x="0" y="-57150"/>
              <a:ext cx="1109222" cy="732265"/>
            </a:xfrm>
            <a:prstGeom prst="rect">
              <a:avLst/>
            </a:prstGeom>
          </p:spPr>
          <p:txBody>
            <a:bodyPr lIns="50800" tIns="50800" rIns="50800" bIns="50800" rtlCol="0" anchor="ctr"/>
            <a:lstStyle/>
            <a:p>
              <a:pPr algn="ctr">
                <a:lnSpc>
                  <a:spcPts val="3919"/>
                </a:lnSpc>
              </a:pPr>
              <a:r>
                <a:rPr lang="en-US" sz="2799">
                  <a:solidFill>
                    <a:srgbClr val="FFFFFF"/>
                  </a:solidFill>
                  <a:latin typeface="Canva Sans"/>
                  <a:ea typeface="Canva Sans"/>
                  <a:cs typeface="Canva Sans"/>
                  <a:sym typeface="Canva Sans"/>
                </a:rPr>
                <a:t>Memory Snapshot</a:t>
              </a:r>
            </a:p>
            <a:p>
              <a:pPr algn="ctr">
                <a:lnSpc>
                  <a:spcPts val="3919"/>
                </a:lnSpc>
              </a:pPr>
              <a:endParaRPr lang="en-US" sz="2799">
                <a:solidFill>
                  <a:srgbClr val="FFFFFF"/>
                </a:solidFill>
                <a:latin typeface="Canva Sans"/>
                <a:ea typeface="Canva Sans"/>
                <a:cs typeface="Canva Sans"/>
                <a:sym typeface="Canva Sans"/>
              </a:endParaRPr>
            </a:p>
            <a:p>
              <a:pPr algn="ctr">
                <a:lnSpc>
                  <a:spcPts val="3919"/>
                </a:lnSpc>
              </a:pPr>
              <a:r>
                <a:rPr lang="en-US" sz="2799">
                  <a:solidFill>
                    <a:srgbClr val="FFFFFF"/>
                  </a:solidFill>
                  <a:latin typeface="Canva Sans"/>
                  <a:ea typeface="Canva Sans"/>
                  <a:cs typeface="Canva Sans"/>
                  <a:sym typeface="Canva Sans"/>
                </a:rPr>
                <a:t>Uses tracemalloc to monitor peak heap size during data structure growth.</a:t>
              </a:r>
            </a:p>
            <a:p>
              <a:pPr algn="ctr">
                <a:lnSpc>
                  <a:spcPts val="3919"/>
                </a:lnSpc>
              </a:pPr>
              <a:endParaRPr lang="en-US" sz="2799">
                <a:solidFill>
                  <a:srgbClr val="FFFFFF"/>
                </a:solidFill>
                <a:latin typeface="Canva Sans"/>
                <a:ea typeface="Canva Sans"/>
                <a:cs typeface="Canva Sans"/>
                <a:sym typeface="Canva Sans"/>
              </a:endParaRPr>
            </a:p>
          </p:txBody>
        </p:sp>
      </p:grpSp>
      <p:grpSp>
        <p:nvGrpSpPr>
          <p:cNvPr id="15" name="Group 15"/>
          <p:cNvGrpSpPr/>
          <p:nvPr/>
        </p:nvGrpSpPr>
        <p:grpSpPr>
          <a:xfrm>
            <a:off x="12641821" y="4238786"/>
            <a:ext cx="5113062" cy="3281061"/>
            <a:chOff x="0" y="0"/>
            <a:chExt cx="1052070" cy="675115"/>
          </a:xfrm>
        </p:grpSpPr>
        <p:sp>
          <p:nvSpPr>
            <p:cNvPr id="16" name="Freeform 16"/>
            <p:cNvSpPr/>
            <p:nvPr/>
          </p:nvSpPr>
          <p:spPr>
            <a:xfrm>
              <a:off x="0" y="0"/>
              <a:ext cx="1052070" cy="675115"/>
            </a:xfrm>
            <a:custGeom>
              <a:avLst/>
              <a:gdLst/>
              <a:ahLst/>
              <a:cxnLst/>
              <a:rect l="l" t="t" r="r" b="b"/>
              <a:pathLst>
                <a:path w="1052070" h="675115">
                  <a:moveTo>
                    <a:pt x="29573" y="0"/>
                  </a:moveTo>
                  <a:lnTo>
                    <a:pt x="1022497" y="0"/>
                  </a:lnTo>
                  <a:cubicBezTo>
                    <a:pt x="1038830" y="0"/>
                    <a:pt x="1052070" y="13240"/>
                    <a:pt x="1052070" y="29573"/>
                  </a:cubicBezTo>
                  <a:lnTo>
                    <a:pt x="1052070" y="645542"/>
                  </a:lnTo>
                  <a:cubicBezTo>
                    <a:pt x="1052070" y="653386"/>
                    <a:pt x="1048955" y="660908"/>
                    <a:pt x="1043409" y="666454"/>
                  </a:cubicBezTo>
                  <a:cubicBezTo>
                    <a:pt x="1037862" y="672000"/>
                    <a:pt x="1030340" y="675115"/>
                    <a:pt x="1022497" y="675115"/>
                  </a:cubicBezTo>
                  <a:lnTo>
                    <a:pt x="29573" y="675115"/>
                  </a:lnTo>
                  <a:cubicBezTo>
                    <a:pt x="21730" y="675115"/>
                    <a:pt x="14208" y="672000"/>
                    <a:pt x="8662" y="666454"/>
                  </a:cubicBezTo>
                  <a:cubicBezTo>
                    <a:pt x="3116" y="660908"/>
                    <a:pt x="0" y="653386"/>
                    <a:pt x="0" y="645542"/>
                  </a:cubicBezTo>
                  <a:lnTo>
                    <a:pt x="0" y="29573"/>
                  </a:lnTo>
                  <a:cubicBezTo>
                    <a:pt x="0" y="21730"/>
                    <a:pt x="3116" y="14208"/>
                    <a:pt x="8662" y="8662"/>
                  </a:cubicBezTo>
                  <a:cubicBezTo>
                    <a:pt x="14208" y="3116"/>
                    <a:pt x="21730" y="0"/>
                    <a:pt x="29573" y="0"/>
                  </a:cubicBezTo>
                  <a:close/>
                </a:path>
              </a:pathLst>
            </a:custGeom>
            <a:gradFill rotWithShape="1">
              <a:gsLst>
                <a:gs pos="0">
                  <a:srgbClr val="000000">
                    <a:alpha val="100000"/>
                  </a:srgbClr>
                </a:gs>
                <a:gs pos="100000">
                  <a:srgbClr val="737373">
                    <a:alpha val="100000"/>
                  </a:srgbClr>
                </a:gs>
              </a:gsLst>
              <a:lin ang="0"/>
            </a:gradFill>
          </p:spPr>
        </p:sp>
        <p:sp>
          <p:nvSpPr>
            <p:cNvPr id="17" name="TextBox 17"/>
            <p:cNvSpPr txBox="1"/>
            <p:nvPr/>
          </p:nvSpPr>
          <p:spPr>
            <a:xfrm>
              <a:off x="0" y="-57150"/>
              <a:ext cx="1052070" cy="732265"/>
            </a:xfrm>
            <a:prstGeom prst="rect">
              <a:avLst/>
            </a:prstGeom>
          </p:spPr>
          <p:txBody>
            <a:bodyPr lIns="50800" tIns="50800" rIns="50800" bIns="50800" rtlCol="0" anchor="ctr"/>
            <a:lstStyle/>
            <a:p>
              <a:pPr algn="ctr">
                <a:lnSpc>
                  <a:spcPts val="3919"/>
                </a:lnSpc>
              </a:pPr>
              <a:r>
                <a:rPr lang="en-US" sz="2799">
                  <a:solidFill>
                    <a:srgbClr val="FFFFFF"/>
                  </a:solidFill>
                  <a:latin typeface="Canva Sans"/>
                  <a:ea typeface="Canva Sans"/>
                  <a:cs typeface="Canva Sans"/>
                  <a:sym typeface="Canva Sans"/>
                </a:rPr>
                <a:t>Latency Metrics</a:t>
              </a:r>
            </a:p>
            <a:p>
              <a:pPr algn="ctr">
                <a:lnSpc>
                  <a:spcPts val="3919"/>
                </a:lnSpc>
              </a:pPr>
              <a:endParaRPr lang="en-US" sz="2799">
                <a:solidFill>
                  <a:srgbClr val="FFFFFF"/>
                </a:solidFill>
                <a:latin typeface="Canva Sans"/>
                <a:ea typeface="Canva Sans"/>
                <a:cs typeface="Canva Sans"/>
                <a:sym typeface="Canva Sans"/>
              </a:endParaRPr>
            </a:p>
            <a:p>
              <a:pPr algn="ctr">
                <a:lnSpc>
                  <a:spcPts val="3919"/>
                </a:lnSpc>
              </a:pPr>
              <a:r>
                <a:rPr lang="en-US" sz="2799">
                  <a:solidFill>
                    <a:srgbClr val="FFFFFF"/>
                  </a:solidFill>
                  <a:latin typeface="Canva Sans"/>
                  <a:ea typeface="Canva Sans"/>
                  <a:cs typeface="Canva Sans"/>
                  <a:sym typeface="Canva Sans"/>
                </a:rPr>
                <a:t>Calculates delta time between steps to find hidden delays in code execution.</a:t>
              </a:r>
            </a:p>
          </p:txBody>
        </p:sp>
      </p:grpSp>
      <p:sp>
        <p:nvSpPr>
          <p:cNvPr id="18" name="Freeform 18"/>
          <p:cNvSpPr/>
          <p:nvPr/>
        </p:nvSpPr>
        <p:spPr>
          <a:xfrm>
            <a:off x="1778945" y="4771290"/>
            <a:ext cx="272210" cy="267435"/>
          </a:xfrm>
          <a:custGeom>
            <a:avLst/>
            <a:gdLst/>
            <a:ahLst/>
            <a:cxnLst/>
            <a:rect l="l" t="t" r="r" b="b"/>
            <a:pathLst>
              <a:path w="272210" h="267435">
                <a:moveTo>
                  <a:pt x="0" y="0"/>
                </a:moveTo>
                <a:lnTo>
                  <a:pt x="272211" y="0"/>
                </a:lnTo>
                <a:lnTo>
                  <a:pt x="272211" y="267435"/>
                </a:lnTo>
                <a:lnTo>
                  <a:pt x="0" y="267435"/>
                </a:lnTo>
                <a:lnTo>
                  <a:pt x="0" y="0"/>
                </a:lnTo>
                <a:close/>
              </a:path>
            </a:pathLst>
          </a:custGeom>
          <a:blipFill>
            <a:blip r:embed="rId3"/>
            <a:stretch>
              <a:fillRect/>
            </a:stretch>
          </a:blipFill>
        </p:spPr>
      </p:sp>
      <p:sp>
        <p:nvSpPr>
          <p:cNvPr id="19" name="Freeform 19"/>
          <p:cNvSpPr/>
          <p:nvPr/>
        </p:nvSpPr>
        <p:spPr>
          <a:xfrm>
            <a:off x="7656162" y="4530134"/>
            <a:ext cx="232327" cy="260207"/>
          </a:xfrm>
          <a:custGeom>
            <a:avLst/>
            <a:gdLst/>
            <a:ahLst/>
            <a:cxnLst/>
            <a:rect l="l" t="t" r="r" b="b"/>
            <a:pathLst>
              <a:path w="232327" h="260207">
                <a:moveTo>
                  <a:pt x="0" y="0"/>
                </a:moveTo>
                <a:lnTo>
                  <a:pt x="232327" y="0"/>
                </a:lnTo>
                <a:lnTo>
                  <a:pt x="232327" y="260206"/>
                </a:lnTo>
                <a:lnTo>
                  <a:pt x="0" y="260206"/>
                </a:lnTo>
                <a:lnTo>
                  <a:pt x="0" y="0"/>
                </a:lnTo>
                <a:close/>
              </a:path>
            </a:pathLst>
          </a:custGeom>
          <a:blipFill>
            <a:blip r:embed="rId4"/>
            <a:stretch>
              <a:fillRect/>
            </a:stretch>
          </a:blipFill>
        </p:spPr>
      </p:sp>
      <p:sp>
        <p:nvSpPr>
          <p:cNvPr id="20" name="Freeform 20"/>
          <p:cNvSpPr/>
          <p:nvPr/>
        </p:nvSpPr>
        <p:spPr>
          <a:xfrm>
            <a:off x="13422871" y="4547051"/>
            <a:ext cx="224240" cy="224240"/>
          </a:xfrm>
          <a:custGeom>
            <a:avLst/>
            <a:gdLst/>
            <a:ahLst/>
            <a:cxnLst/>
            <a:rect l="l" t="t" r="r" b="b"/>
            <a:pathLst>
              <a:path w="224240" h="224240">
                <a:moveTo>
                  <a:pt x="0" y="0"/>
                </a:moveTo>
                <a:lnTo>
                  <a:pt x="224240" y="0"/>
                </a:lnTo>
                <a:lnTo>
                  <a:pt x="224240" y="224239"/>
                </a:lnTo>
                <a:lnTo>
                  <a:pt x="0" y="224239"/>
                </a:lnTo>
                <a:lnTo>
                  <a:pt x="0" y="0"/>
                </a:lnTo>
                <a:close/>
              </a:path>
            </a:pathLst>
          </a:custGeom>
          <a:blipFill>
            <a:blip r:embed="rId5"/>
            <a:stretch>
              <a:fillRect/>
            </a:stretch>
          </a:blipFill>
        </p:spPr>
      </p:sp>
      <p:sp>
        <p:nvSpPr>
          <p:cNvPr id="21" name="Freeform 21"/>
          <p:cNvSpPr/>
          <p:nvPr/>
        </p:nvSpPr>
        <p:spPr>
          <a:xfrm>
            <a:off x="309115" y="2762757"/>
            <a:ext cx="17925773" cy="6229206"/>
          </a:xfrm>
          <a:custGeom>
            <a:avLst/>
            <a:gdLst/>
            <a:ahLst/>
            <a:cxnLst/>
            <a:rect l="l" t="t" r="r" b="b"/>
            <a:pathLst>
              <a:path w="17925773" h="6229206">
                <a:moveTo>
                  <a:pt x="0" y="0"/>
                </a:moveTo>
                <a:lnTo>
                  <a:pt x="17925773" y="0"/>
                </a:lnTo>
                <a:lnTo>
                  <a:pt x="17925773" y="6229206"/>
                </a:lnTo>
                <a:lnTo>
                  <a:pt x="0" y="6229206"/>
                </a:lnTo>
                <a:lnTo>
                  <a:pt x="0" y="0"/>
                </a:lnTo>
                <a:close/>
              </a:path>
            </a:pathLst>
          </a:custGeom>
          <a:blipFill>
            <a:blip r:embed="rId6"/>
            <a:stretch>
              <a:fillRect/>
            </a:stretch>
          </a:blipFill>
        </p:spPr>
      </p:sp>
      <p:sp>
        <p:nvSpPr>
          <p:cNvPr id="22" name="TextBox 2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23" name="TextBox 23"/>
          <p:cNvSpPr txBox="1"/>
          <p:nvPr/>
        </p:nvSpPr>
        <p:spPr>
          <a:xfrm>
            <a:off x="309115" y="1260075"/>
            <a:ext cx="13548990"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Resource Monitoring Module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1754362" y="1899454"/>
            <a:ext cx="15412481" cy="7826292"/>
          </a:xfrm>
          <a:custGeom>
            <a:avLst/>
            <a:gdLst/>
            <a:ahLst/>
            <a:cxnLst/>
            <a:rect l="l" t="t" r="r" b="b"/>
            <a:pathLst>
              <a:path w="15412481" h="7826292">
                <a:moveTo>
                  <a:pt x="0" y="0"/>
                </a:moveTo>
                <a:lnTo>
                  <a:pt x="15412481" y="0"/>
                </a:lnTo>
                <a:lnTo>
                  <a:pt x="15412481" y="7826292"/>
                </a:lnTo>
                <a:lnTo>
                  <a:pt x="0" y="7826292"/>
                </a:lnTo>
                <a:lnTo>
                  <a:pt x="0" y="0"/>
                </a:lnTo>
                <a:close/>
              </a:path>
            </a:pathLst>
          </a:custGeom>
          <a:blipFill>
            <a:blip r:embed="rId2"/>
            <a:stretch>
              <a:fillRect t="-16682"/>
            </a:stretch>
          </a:blipFill>
        </p:spPr>
      </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id="11" name="TextBox 11"/>
          <p:cNvSpPr txBox="1"/>
          <p:nvPr/>
        </p:nvSpPr>
        <p:spPr>
          <a:xfrm>
            <a:off x="0" y="504686"/>
            <a:ext cx="12068559"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Performance Visualization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Freeform 9"/>
          <p:cNvSpPr/>
          <p:nvPr/>
        </p:nvSpPr>
        <p:spPr>
          <a:xfrm>
            <a:off x="1028700" y="1931418"/>
            <a:ext cx="6892276" cy="3675831"/>
          </a:xfrm>
          <a:custGeom>
            <a:avLst/>
            <a:gdLst/>
            <a:ahLst/>
            <a:cxnLst/>
            <a:rect l="l" t="t" r="r" b="b"/>
            <a:pathLst>
              <a:path w="6892276" h="3675831">
                <a:moveTo>
                  <a:pt x="0" y="0"/>
                </a:moveTo>
                <a:lnTo>
                  <a:pt x="6892276" y="0"/>
                </a:lnTo>
                <a:lnTo>
                  <a:pt x="6892276" y="3675830"/>
                </a:lnTo>
                <a:lnTo>
                  <a:pt x="0" y="3675830"/>
                </a:lnTo>
                <a:lnTo>
                  <a:pt x="0" y="0"/>
                </a:lnTo>
                <a:close/>
              </a:path>
            </a:pathLst>
          </a:custGeom>
          <a:blipFill>
            <a:blip r:embed="rId3"/>
            <a:stretch>
              <a:fillRect t="-977" b="-977"/>
            </a:stretch>
          </a:blipFill>
        </p:spPr>
      </p:sp>
      <p:sp>
        <p:nvSpPr>
          <p:cNvPr id="10" name="Freeform 10"/>
          <p:cNvSpPr/>
          <p:nvPr/>
        </p:nvSpPr>
        <p:spPr>
          <a:xfrm>
            <a:off x="9376137" y="1893217"/>
            <a:ext cx="6834339" cy="3699253"/>
          </a:xfrm>
          <a:custGeom>
            <a:avLst/>
            <a:gdLst/>
            <a:ahLst/>
            <a:cxnLst/>
            <a:rect l="l" t="t" r="r" b="b"/>
            <a:pathLst>
              <a:path w="6834339" h="3699253">
                <a:moveTo>
                  <a:pt x="0" y="0"/>
                </a:moveTo>
                <a:lnTo>
                  <a:pt x="6834339" y="0"/>
                </a:lnTo>
                <a:lnTo>
                  <a:pt x="6834339" y="3699253"/>
                </a:lnTo>
                <a:lnTo>
                  <a:pt x="0" y="3699253"/>
                </a:lnTo>
                <a:lnTo>
                  <a:pt x="0" y="0"/>
                </a:lnTo>
                <a:close/>
              </a:path>
            </a:pathLst>
          </a:custGeom>
          <a:blipFill>
            <a:blip r:embed="rId4"/>
            <a:stretch>
              <a:fillRect t="-459" b="-459"/>
            </a:stretch>
          </a:blipFill>
        </p:spPr>
      </p:sp>
      <p:sp>
        <p:nvSpPr>
          <p:cNvPr id="11" name="Freeform 11"/>
          <p:cNvSpPr/>
          <p:nvPr/>
        </p:nvSpPr>
        <p:spPr>
          <a:xfrm>
            <a:off x="1028700" y="5769173"/>
            <a:ext cx="6892276" cy="3790752"/>
          </a:xfrm>
          <a:custGeom>
            <a:avLst/>
            <a:gdLst/>
            <a:ahLst/>
            <a:cxnLst/>
            <a:rect l="l" t="t" r="r" b="b"/>
            <a:pathLst>
              <a:path w="6892276" h="3790752">
                <a:moveTo>
                  <a:pt x="0" y="0"/>
                </a:moveTo>
                <a:lnTo>
                  <a:pt x="6892276" y="0"/>
                </a:lnTo>
                <a:lnTo>
                  <a:pt x="6892276" y="3790752"/>
                </a:lnTo>
                <a:lnTo>
                  <a:pt x="0" y="3790752"/>
                </a:lnTo>
                <a:lnTo>
                  <a:pt x="0" y="0"/>
                </a:lnTo>
                <a:close/>
              </a:path>
            </a:pathLst>
          </a:custGeom>
          <a:blipFill>
            <a:blip r:embed="rId5"/>
            <a:stretch>
              <a:fillRect/>
            </a:stretch>
          </a:blipFill>
        </p:spPr>
      </p:sp>
      <p:sp>
        <p:nvSpPr>
          <p:cNvPr id="12" name="Freeform 12"/>
          <p:cNvSpPr/>
          <p:nvPr/>
        </p:nvSpPr>
        <p:spPr>
          <a:xfrm>
            <a:off x="9376137" y="5900260"/>
            <a:ext cx="6954232" cy="3659665"/>
          </a:xfrm>
          <a:custGeom>
            <a:avLst/>
            <a:gdLst/>
            <a:ahLst/>
            <a:cxnLst/>
            <a:rect l="l" t="t" r="r" b="b"/>
            <a:pathLst>
              <a:path w="6954232" h="3659665">
                <a:moveTo>
                  <a:pt x="0" y="0"/>
                </a:moveTo>
                <a:lnTo>
                  <a:pt x="6954232" y="0"/>
                </a:lnTo>
                <a:lnTo>
                  <a:pt x="6954232" y="3659665"/>
                </a:lnTo>
                <a:lnTo>
                  <a:pt x="0" y="3659665"/>
                </a:lnTo>
                <a:lnTo>
                  <a:pt x="0" y="0"/>
                </a:lnTo>
                <a:close/>
              </a:path>
            </a:pathLst>
          </a:custGeom>
          <a:blipFill>
            <a:blip r:embed="rId6"/>
            <a:stretch>
              <a:fillRect/>
            </a:stretch>
          </a:blipFill>
        </p:spPr>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14" name="TextBox 14"/>
          <p:cNvSpPr txBox="1"/>
          <p:nvPr/>
        </p:nvSpPr>
        <p:spPr>
          <a:xfrm>
            <a:off x="0" y="504686"/>
            <a:ext cx="12068559"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System Visualization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id="10" name="TextBox 10"/>
          <p:cNvSpPr txBox="1"/>
          <p:nvPr/>
        </p:nvSpPr>
        <p:spPr>
          <a:xfrm>
            <a:off x="326970" y="869846"/>
            <a:ext cx="11743032"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Multi-language Integration</a:t>
            </a:r>
          </a:p>
        </p:txBody>
      </p:sp>
      <p:sp>
        <p:nvSpPr>
          <p:cNvPr id="11" name="TextBox 11"/>
          <p:cNvSpPr txBox="1"/>
          <p:nvPr/>
        </p:nvSpPr>
        <p:spPr>
          <a:xfrm>
            <a:off x="874990" y="2400566"/>
            <a:ext cx="16384310" cy="5039360"/>
          </a:xfrm>
          <a:prstGeom prst="rect">
            <a:avLst/>
          </a:prstGeom>
        </p:spPr>
        <p:txBody>
          <a:bodyPr lIns="0" tIns="0" rIns="0" bIns="0" rtlCol="0" anchor="t">
            <a:spAutoFit/>
          </a:bodyPr>
          <a:lstStyle/>
          <a:p>
            <a:pPr algn="l">
              <a:lnSpc>
                <a:spcPts val="5740"/>
              </a:lnSpc>
            </a:pPr>
            <a:r>
              <a:rPr lang="en-US" sz="4100">
                <a:solidFill>
                  <a:srgbClr val="000000"/>
                </a:solidFill>
                <a:latin typeface="Canva Sans"/>
                <a:ea typeface="Canva Sans"/>
                <a:cs typeface="Canva Sans"/>
                <a:sym typeface="Canva Sans"/>
              </a:rPr>
              <a:t>•We extended the system to support:</a:t>
            </a:r>
          </a:p>
          <a:p>
            <a:pPr algn="l">
              <a:lnSpc>
                <a:spcPts val="5740"/>
              </a:lnSpc>
            </a:pPr>
            <a:r>
              <a:rPr lang="en-US" sz="4100">
                <a:solidFill>
                  <a:srgbClr val="000000"/>
                </a:solidFill>
                <a:latin typeface="Canva Sans"/>
                <a:ea typeface="Canva Sans"/>
                <a:cs typeface="Canva Sans"/>
                <a:sym typeface="Canva Sans"/>
              </a:rPr>
              <a:t>•Execution of programs in multiple languages</a:t>
            </a:r>
          </a:p>
          <a:p>
            <a:pPr algn="l">
              <a:lnSpc>
                <a:spcPts val="5740"/>
              </a:lnSpc>
            </a:pPr>
            <a:r>
              <a:rPr lang="en-US" sz="4100">
                <a:solidFill>
                  <a:srgbClr val="000000"/>
                </a:solidFill>
                <a:latin typeface="Canva Sans"/>
                <a:ea typeface="Canva Sans"/>
                <a:cs typeface="Canva Sans"/>
                <a:sym typeface="Canva Sans"/>
              </a:rPr>
              <a:t> </a:t>
            </a:r>
          </a:p>
          <a:p>
            <a:pPr algn="l">
              <a:lnSpc>
                <a:spcPts val="5740"/>
              </a:lnSpc>
            </a:pPr>
            <a:r>
              <a:rPr lang="en-US" sz="4100">
                <a:solidFill>
                  <a:srgbClr val="000000"/>
                </a:solidFill>
                <a:latin typeface="Canva Sans"/>
                <a:ea typeface="Canva Sans"/>
                <a:cs typeface="Canva Sans"/>
                <a:sym typeface="Canva Sans"/>
              </a:rPr>
              <a:t>Current focus: </a:t>
            </a:r>
          </a:p>
          <a:p>
            <a:pPr algn="l">
              <a:lnSpc>
                <a:spcPts val="5740"/>
              </a:lnSpc>
            </a:pPr>
            <a:r>
              <a:rPr lang="en-US" sz="4100">
                <a:solidFill>
                  <a:srgbClr val="000000"/>
                </a:solidFill>
                <a:latin typeface="Canva Sans"/>
                <a:ea typeface="Canva Sans"/>
                <a:cs typeface="Canva Sans"/>
                <a:sym typeface="Canva Sans"/>
              </a:rPr>
              <a:t>•Python (fully supported) </a:t>
            </a:r>
          </a:p>
          <a:p>
            <a:pPr algn="l">
              <a:lnSpc>
                <a:spcPts val="5740"/>
              </a:lnSpc>
            </a:pPr>
            <a:r>
              <a:rPr lang="en-US" sz="4100">
                <a:solidFill>
                  <a:srgbClr val="000000"/>
                </a:solidFill>
                <a:latin typeface="Canva Sans"/>
                <a:ea typeface="Canva Sans"/>
                <a:cs typeface="Canva Sans"/>
                <a:sym typeface="Canva Sans"/>
              </a:rPr>
              <a:t>•C/C++</a:t>
            </a:r>
          </a:p>
          <a:p>
            <a:pPr algn="l">
              <a:lnSpc>
                <a:spcPts val="5740"/>
              </a:lnSpc>
            </a:pPr>
            <a:r>
              <a:rPr lang="en-US" sz="4100">
                <a:solidFill>
                  <a:srgbClr val="000000"/>
                </a:solidFill>
                <a:latin typeface="Canva Sans"/>
                <a:ea typeface="Canva Sans"/>
                <a:cs typeface="Canva Sans"/>
                <a:sym typeface="Canva Sans"/>
              </a:rPr>
              <a:t>•Java and JavaScript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10" name="TextBox 10"/>
          <p:cNvSpPr txBox="1"/>
          <p:nvPr/>
        </p:nvSpPr>
        <p:spPr>
          <a:xfrm>
            <a:off x="326970" y="869846"/>
            <a:ext cx="14209696"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Multi-language Design Approach</a:t>
            </a:r>
          </a:p>
        </p:txBody>
      </p:sp>
      <p:sp>
        <p:nvSpPr>
          <p:cNvPr id="11" name="TextBox 11"/>
          <p:cNvSpPr txBox="1"/>
          <p:nvPr/>
        </p:nvSpPr>
        <p:spPr>
          <a:xfrm>
            <a:off x="903565" y="2400566"/>
            <a:ext cx="16384310" cy="5039360"/>
          </a:xfrm>
          <a:prstGeom prst="rect">
            <a:avLst/>
          </a:prstGeom>
        </p:spPr>
        <p:txBody>
          <a:bodyPr lIns="0" tIns="0" rIns="0" bIns="0" rtlCol="0" anchor="t">
            <a:spAutoFit/>
          </a:bodyPr>
          <a:lstStyle/>
          <a:p>
            <a:pPr algn="l">
              <a:lnSpc>
                <a:spcPts val="5740"/>
              </a:lnSpc>
            </a:pPr>
            <a:r>
              <a:rPr lang="en-US" sz="4100">
                <a:solidFill>
                  <a:srgbClr val="000000"/>
                </a:solidFill>
                <a:latin typeface="Canva Sans"/>
                <a:ea typeface="Canva Sans"/>
                <a:cs typeface="Canva Sans"/>
                <a:sym typeface="Canva Sans"/>
              </a:rPr>
              <a:t>•Use subprocess-based execution </a:t>
            </a:r>
          </a:p>
          <a:p>
            <a:pPr algn="l">
              <a:lnSpc>
                <a:spcPts val="5740"/>
              </a:lnSpc>
            </a:pPr>
            <a:r>
              <a:rPr lang="en-US" sz="4100">
                <a:solidFill>
                  <a:srgbClr val="000000"/>
                </a:solidFill>
                <a:latin typeface="Canva Sans"/>
                <a:ea typeface="Canva Sans"/>
                <a:cs typeface="Canva Sans"/>
                <a:sym typeface="Canva Sans"/>
              </a:rPr>
              <a:t>•Language-specific runners </a:t>
            </a:r>
          </a:p>
          <a:p>
            <a:pPr algn="l">
              <a:lnSpc>
                <a:spcPts val="5740"/>
              </a:lnSpc>
            </a:pPr>
            <a:r>
              <a:rPr lang="en-US" sz="4100">
                <a:solidFill>
                  <a:srgbClr val="000000"/>
                </a:solidFill>
                <a:latin typeface="Canva Sans"/>
                <a:ea typeface="Canva Sans"/>
                <a:cs typeface="Canva Sans"/>
                <a:sym typeface="Canva Sans"/>
              </a:rPr>
              <a:t>•Unified output format </a:t>
            </a:r>
          </a:p>
          <a:p>
            <a:pPr algn="l">
              <a:lnSpc>
                <a:spcPts val="5740"/>
              </a:lnSpc>
            </a:pPr>
            <a:r>
              <a:rPr lang="en-US" sz="4100">
                <a:solidFill>
                  <a:srgbClr val="000000"/>
                </a:solidFill>
                <a:latin typeface="Canva Sans"/>
                <a:ea typeface="Canva Sans"/>
                <a:cs typeface="Canva Sans"/>
                <a:sym typeface="Canva Sans"/>
              </a:rPr>
              <a:t>•Same visualization pipeline </a:t>
            </a:r>
          </a:p>
          <a:p>
            <a:pPr algn="l">
              <a:lnSpc>
                <a:spcPts val="5740"/>
              </a:lnSpc>
            </a:pPr>
            <a:endParaRPr lang="en-US" sz="4100">
              <a:solidFill>
                <a:srgbClr val="000000"/>
              </a:solidFill>
              <a:latin typeface="Canva Sans"/>
              <a:ea typeface="Canva Sans"/>
              <a:cs typeface="Canva Sans"/>
              <a:sym typeface="Canva Sans"/>
            </a:endParaRPr>
          </a:p>
          <a:p>
            <a:pPr algn="l">
              <a:lnSpc>
                <a:spcPts val="5740"/>
              </a:lnSpc>
            </a:pPr>
            <a:endParaRPr lang="en-US" sz="4100">
              <a:solidFill>
                <a:srgbClr val="000000"/>
              </a:solidFill>
              <a:latin typeface="Canva Sans"/>
              <a:ea typeface="Canva Sans"/>
              <a:cs typeface="Canva Sans"/>
              <a:sym typeface="Canva Sans"/>
            </a:endParaRPr>
          </a:p>
          <a:p>
            <a:pPr algn="l">
              <a:lnSpc>
                <a:spcPts val="5740"/>
              </a:lnSpc>
            </a:pPr>
            <a:endParaRPr lang="en-US" sz="4100">
              <a:solidFill>
                <a:srgbClr val="000000"/>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1A237BD9-AEF0-BD4C-FDFB-E909471604E1}"/>
              </a:ext>
            </a:extLst>
          </p:cNvPr>
          <p:cNvGraphicFramePr>
            <a:graphicFrameLocks noGrp="1"/>
          </p:cNvGraphicFramePr>
          <p:nvPr>
            <p:extLst>
              <p:ext uri="{D42A27DB-BD31-4B8C-83A1-F6EECF244321}">
                <p14:modId xmlns:p14="http://schemas.microsoft.com/office/powerpoint/2010/main" val="2001078053"/>
              </p:ext>
            </p:extLst>
          </p:nvPr>
        </p:nvGraphicFramePr>
        <p:xfrm>
          <a:off x="1371600" y="1921856"/>
          <a:ext cx="15468600" cy="7288816"/>
        </p:xfrm>
        <a:graphic>
          <a:graphicData uri="http://schemas.openxmlformats.org/drawingml/2006/table">
            <a:tbl>
              <a:tblPr/>
              <a:tblGrid>
                <a:gridCol w="7734300">
                  <a:extLst>
                    <a:ext uri="{9D8B030D-6E8A-4147-A177-3AD203B41FA5}">
                      <a16:colId xmlns:a16="http://schemas.microsoft.com/office/drawing/2014/main" val="1579025241"/>
                    </a:ext>
                  </a:extLst>
                </a:gridCol>
                <a:gridCol w="7734300">
                  <a:extLst>
                    <a:ext uri="{9D8B030D-6E8A-4147-A177-3AD203B41FA5}">
                      <a16:colId xmlns:a16="http://schemas.microsoft.com/office/drawing/2014/main" val="3621113483"/>
                    </a:ext>
                  </a:extLst>
                </a:gridCol>
              </a:tblGrid>
              <a:tr h="1131434">
                <a:tc>
                  <a:txBody>
                    <a:bodyPr/>
                    <a:lstStyle/>
                    <a:p>
                      <a:pPr>
                        <a:buNone/>
                      </a:pPr>
                      <a:r>
                        <a:rPr lang="en-IN" sz="1700" b="1">
                          <a:effectLst/>
                        </a:rPr>
                        <a:t>Member</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700" b="1">
                          <a:effectLst/>
                        </a:rPr>
                        <a:t>Contribution</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852360651"/>
                  </a:ext>
                </a:extLst>
              </a:tr>
              <a:tr h="1381540">
                <a:tc>
                  <a:txBody>
                    <a:bodyPr/>
                    <a:lstStyle/>
                    <a:p>
                      <a:pPr>
                        <a:buNone/>
                      </a:pPr>
                      <a:r>
                        <a:rPr lang="en-IN" sz="1700">
                          <a:effectLst/>
                        </a:rPr>
                        <a:t>Poovya S</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1700">
                          <a:effectLst/>
                        </a:rPr>
                        <a:t>Research and literature review on program execution analysis and monitoring techniques</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574390610"/>
                  </a:ext>
                </a:extLst>
              </a:tr>
              <a:tr h="1131434">
                <a:tc>
                  <a:txBody>
                    <a:bodyPr/>
                    <a:lstStyle/>
                    <a:p>
                      <a:pPr>
                        <a:buNone/>
                      </a:pPr>
                      <a:r>
                        <a:rPr lang="en-IN" sz="1700">
                          <a:effectLst/>
                        </a:rPr>
                        <a:t>Ch.Venkata Abhiram</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1700">
                          <a:effectLst/>
                        </a:rPr>
                        <a:t>System architecture design and execution tracing implementation</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5399033"/>
                  </a:ext>
                </a:extLst>
              </a:tr>
              <a:tr h="1131434">
                <a:tc>
                  <a:txBody>
                    <a:bodyPr/>
                    <a:lstStyle/>
                    <a:p>
                      <a:pPr>
                        <a:buNone/>
                      </a:pPr>
                      <a:r>
                        <a:rPr lang="en-IN" sz="1700">
                          <a:effectLst/>
                        </a:rPr>
                        <a:t>Dhiren</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1700">
                          <a:effectLst/>
                        </a:rPr>
                        <a:t>Runtime behavior analysis, execution flow monitoring, and variable tracking</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86585378"/>
                  </a:ext>
                </a:extLst>
              </a:tr>
              <a:tr h="1381540">
                <a:tc>
                  <a:txBody>
                    <a:bodyPr/>
                    <a:lstStyle/>
                    <a:p>
                      <a:pPr>
                        <a:buNone/>
                      </a:pPr>
                      <a:r>
                        <a:rPr lang="en-IN" sz="1700">
                          <a:effectLst/>
                        </a:rPr>
                        <a:t>Pardhav Redyy</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1700">
                          <a:effectLst/>
                        </a:rPr>
                        <a:t>Resource monitoring module development (CPU, RAM, memory tracking) and code integration</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16484722"/>
                  </a:ext>
                </a:extLst>
              </a:tr>
              <a:tr h="1131434">
                <a:tc>
                  <a:txBody>
                    <a:bodyPr/>
                    <a:lstStyle/>
                    <a:p>
                      <a:pPr>
                        <a:buNone/>
                      </a:pPr>
                      <a:r>
                        <a:rPr lang="en-IN" sz="1700">
                          <a:effectLst/>
                        </a:rPr>
                        <a:t>Edwin Santosh</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buNone/>
                      </a:pPr>
                      <a:r>
                        <a:rPr lang="en-US" sz="1700" dirty="0">
                          <a:effectLst/>
                        </a:rPr>
                        <a:t>Performance graph visualization, system testing, and documentation</a:t>
                      </a:r>
                    </a:p>
                  </a:txBody>
                  <a:tcPr marL="85059" marR="85059" marT="42530" marB="4253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325948670"/>
                  </a:ext>
                </a:extLst>
              </a:tr>
            </a:tbl>
          </a:graphicData>
        </a:graphic>
      </p:graphicFrame>
      <p:sp>
        <p:nvSpPr>
          <p:cNvPr id="13" name="Rectangle 1">
            <a:extLst>
              <a:ext uri="{FF2B5EF4-FFF2-40B4-BE49-F238E27FC236}">
                <a16:creationId xmlns:a16="http://schemas.microsoft.com/office/drawing/2014/main" id="{372F2FEE-5FBE-8322-22E0-33FDB77D29E6}"/>
              </a:ext>
            </a:extLst>
          </p:cNvPr>
          <p:cNvSpPr>
            <a:spLocks noChangeArrowheads="1"/>
          </p:cNvSpPr>
          <p:nvPr/>
        </p:nvSpPr>
        <p:spPr bwMode="auto">
          <a:xfrm>
            <a:off x="2243039" y="1589087"/>
            <a:ext cx="369532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11" name="TextBox 11"/>
          <p:cNvSpPr txBox="1"/>
          <p:nvPr/>
        </p:nvSpPr>
        <p:spPr>
          <a:xfrm>
            <a:off x="309115" y="504686"/>
            <a:ext cx="10900536"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Individual Contributions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10" name="TextBox 10"/>
          <p:cNvSpPr txBox="1"/>
          <p:nvPr/>
        </p:nvSpPr>
        <p:spPr>
          <a:xfrm>
            <a:off x="419654" y="633456"/>
            <a:ext cx="5247708"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Conclusion</a:t>
            </a:r>
          </a:p>
        </p:txBody>
      </p:sp>
      <p:sp>
        <p:nvSpPr>
          <p:cNvPr id="11" name="TextBox 11"/>
          <p:cNvSpPr txBox="1"/>
          <p:nvPr/>
        </p:nvSpPr>
        <p:spPr>
          <a:xfrm>
            <a:off x="1028700" y="1980882"/>
            <a:ext cx="16230600" cy="4315461"/>
          </a:xfrm>
          <a:prstGeom prst="rect">
            <a:avLst/>
          </a:prstGeom>
        </p:spPr>
        <p:txBody>
          <a:bodyPr lIns="0" tIns="0" rIns="0" bIns="0" rtlCol="0" anchor="t">
            <a:spAutoFit/>
          </a:bodyPr>
          <a:lstStyle/>
          <a:p>
            <a:pPr algn="l">
              <a:lnSpc>
                <a:spcPts val="5739"/>
              </a:lnSpc>
            </a:pPr>
            <a:r>
              <a:rPr lang="en-US" sz="4099">
                <a:solidFill>
                  <a:srgbClr val="000000"/>
                </a:solidFill>
                <a:latin typeface="Canva Sans"/>
                <a:ea typeface="Canva Sans"/>
                <a:cs typeface="Canva Sans"/>
                <a:sym typeface="Canva Sans"/>
              </a:rPr>
              <a:t>The proposed system successfully demonstrates how programs execute internally and how system resources are utilized during execution.</a:t>
            </a:r>
          </a:p>
          <a:p>
            <a:pPr algn="l">
              <a:lnSpc>
                <a:spcPts val="5739"/>
              </a:lnSpc>
            </a:pPr>
            <a:r>
              <a:rPr lang="en-US" sz="4099">
                <a:solidFill>
                  <a:srgbClr val="000000"/>
                </a:solidFill>
                <a:latin typeface="Canva Sans"/>
                <a:ea typeface="Canva Sans"/>
                <a:cs typeface="Canva Sans"/>
                <a:sym typeface="Canva Sans"/>
              </a:rPr>
              <a:t>By combining execution tracing with resource monitoring and visualization, the system helps users understand program behavior and performance more effectively.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70204" y="4035928"/>
            <a:ext cx="12547592" cy="1609725"/>
          </a:xfrm>
          <a:prstGeom prst="rect">
            <a:avLst/>
          </a:prstGeom>
        </p:spPr>
        <p:txBody>
          <a:bodyPr lIns="0" tIns="0" rIns="0" bIns="0" rtlCol="0" anchor="t">
            <a:spAutoFit/>
          </a:bodyPr>
          <a:lstStyle/>
          <a:p>
            <a:pPr algn="ctr">
              <a:lnSpc>
                <a:spcPts val="12000"/>
              </a:lnSpc>
            </a:pPr>
            <a:r>
              <a:rPr lang="en-US" sz="12000" spc="-480">
                <a:solidFill>
                  <a:srgbClr val="36211B"/>
                </a:solidFill>
                <a:latin typeface="IBM Plex Serif"/>
                <a:ea typeface="IBM Plex Serif"/>
                <a:cs typeface="IBM Plex Serif"/>
                <a:sym typeface="IBM Plex Serif"/>
              </a:rPr>
              <a:t>THANK YOU </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36211B"/>
                </a:solidFill>
                <a:latin typeface="Canva Sans"/>
                <a:ea typeface="Canva Sans"/>
                <a:cs typeface="Canva Sans"/>
                <a:sym typeface="Canva Sans"/>
              </a:rPr>
              <a:t>18</a:t>
            </a:r>
          </a:p>
        </p:txBody>
      </p:sp>
      <p:grpSp>
        <p:nvGrpSpPr>
          <p:cNvPr id="4" name="Group 4"/>
          <p:cNvGrpSpPr/>
          <p:nvPr/>
        </p:nvGrpSpPr>
        <p:grpSpPr>
          <a:xfrm>
            <a:off x="-194305" y="-225953"/>
            <a:ext cx="14052410" cy="873514"/>
            <a:chOff x="0" y="0"/>
            <a:chExt cx="3701046" cy="230061"/>
          </a:xfrm>
        </p:grpSpPr>
        <p:sp>
          <p:nvSpPr>
            <p:cNvPr id="5" name="Freeform 5"/>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6" name="TextBox 6"/>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7" name="Group 7"/>
          <p:cNvGrpSpPr/>
          <p:nvPr/>
        </p:nvGrpSpPr>
        <p:grpSpPr>
          <a:xfrm>
            <a:off x="4404549" y="9725746"/>
            <a:ext cx="14052410" cy="873514"/>
            <a:chOff x="0" y="0"/>
            <a:chExt cx="3701046" cy="230061"/>
          </a:xfrm>
        </p:grpSpPr>
        <p:sp>
          <p:nvSpPr>
            <p:cNvPr id="8" name="Freeform 8"/>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9" name="TextBox 9"/>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808</Words>
  <Application>Microsoft Office PowerPoint</Application>
  <PresentationFormat>Custom</PresentationFormat>
  <Paragraphs>156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Bricolage Grotesque</vt:lpstr>
      <vt:lpstr>Bricolage Grotesque Bold</vt:lpstr>
      <vt:lpstr>Canva Sans</vt:lpstr>
      <vt:lpstr>IBM Plex Serif</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EOC Mid Review</dc:title>
  <cp:lastModifiedBy>Dhiren Vasudeva</cp:lastModifiedBy>
  <cp:revision>3</cp:revision>
  <dcterms:created xsi:type="dcterms:W3CDTF">2006-08-16T00:00:00Z</dcterms:created>
  <dcterms:modified xsi:type="dcterms:W3CDTF">2026-05-02T07:20:54Z</dcterms:modified>
  <dc:identifier>DAHDkIuNH4I</dc:identifier>
</cp:coreProperties>
</file>